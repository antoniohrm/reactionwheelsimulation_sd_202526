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69" r:id="rId2"/>
    <p:sldId id="290" r:id="rId3"/>
    <p:sldId id="339" r:id="rId4"/>
    <p:sldId id="345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354" r:id="rId13"/>
    <p:sldId id="355" r:id="rId14"/>
    <p:sldId id="357" r:id="rId15"/>
    <p:sldId id="356" r:id="rId16"/>
    <p:sldId id="358" r:id="rId17"/>
    <p:sldId id="359" r:id="rId18"/>
    <p:sldId id="265" r:id="rId1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389"/>
    <p:restoredTop sz="96306"/>
  </p:normalViewPr>
  <p:slideViewPr>
    <p:cSldViewPr snapToGrid="0">
      <p:cViewPr>
        <p:scale>
          <a:sx n="145" d="100"/>
          <a:sy n="145" d="100"/>
        </p:scale>
        <p:origin x="1776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3B25C-F6C2-C945-A4EC-DD6783FA1676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2839B9-C362-B54E-A8D2-200341F9415A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1724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9C7CC-C5F4-4693-B1F7-2A3DC83E93D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0462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16912D-0EE5-F780-A345-3A8E0C58F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339E9E-9358-7C6B-83BF-764C5D845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8ADF2F-F607-8B6E-45D2-74EC03FCF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DD51A-2695-1944-9F59-391508BC433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383F4C-F7A2-5567-7147-E04A0D0B5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4666E2-9FED-47F0-8DA8-72677CA7D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42CE-EACB-944A-818E-3647D87DE46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6322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566577-22F3-B4F8-5DB3-07A5E86D6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FBD307-F263-CFF7-504D-52A80D27E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000720-87C3-FCB6-7E5E-DBA19F90B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DD51A-2695-1944-9F59-391508BC433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C14BF8-EDEB-0797-41EA-A2A2416AC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4146FC-CEEF-BAD2-3A1D-CE87C6A79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42CE-EACB-944A-818E-3647D87DE46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103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2CA7FE-808E-19BD-0A3D-0C891DC48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72CBE5E-1FDF-FA88-8396-C38A1ED98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3717E4-DC8C-FFBF-9C0A-618DDE90B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DD51A-2695-1944-9F59-391508BC433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D39509-4942-3FE8-C313-998C9A1FD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03BA86-5149-BD87-83F1-0C874B8C4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42CE-EACB-944A-818E-3647D87DE46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8089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11030F-A23E-C937-6F5A-890B5B9C7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452800-33DA-057A-F6D4-4FE268B544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C06FAEE-C210-7A3C-80D4-84B6BE342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2DFBFCD-C714-31A0-A08A-82AC7CDE1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DD51A-2695-1944-9F59-391508BC433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C343CC-FB5C-1707-4A31-643AE359C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DEEAEA-FE7C-C89A-39FD-5D70681DE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42CE-EACB-944A-818E-3647D87DE46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012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7EE2A6-9B22-971E-1891-F57A10AD2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EA501A-1399-F83D-105D-0987A729C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813C57-5853-6B29-739B-75073718C1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B68B2A2-1EAF-952D-0AF0-65238B2EA8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71FBFC1-26A5-5EB5-F78D-63CBA18008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D71555F-F8DC-B086-C703-16B142D08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DD51A-2695-1944-9F59-391508BC433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9DCB868-B504-190C-B08F-3CE87C66B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093E3BB-8735-AC89-112F-FC526B191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42CE-EACB-944A-818E-3647D87DE46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5607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278111-EE42-D0AA-2C80-F403CC2D6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2E45D0E-40F0-4CE5-17F2-D6C619FD1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DD51A-2695-1944-9F59-391508BC433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3F5AB2D-834B-291D-1373-25D00A677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463850B-75B4-30F0-ADF8-47CE60975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42CE-EACB-944A-818E-3647D87DE46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3331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EA1EF1-704A-91EF-DEEB-2017FD10E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DD51A-2695-1944-9F59-391508BC433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B20236-CE23-41C6-D5A7-8F927A8F8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9245CF-282F-B35F-FA3F-C6AA30AE7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42CE-EACB-944A-818E-3647D87DE46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0972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9900DB-43DF-A199-43A9-C6A5B4211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B7731E-F12F-AA74-2204-F0CB4D038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D97465C-A981-0B11-397F-5D787422E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DE2F45C-7AF9-0A0E-0EA2-F8FC0ED99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DD51A-2695-1944-9F59-391508BC433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43CCC8-6102-5C54-84DA-123441524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A107F5-2C92-457B-F794-48F3FB6D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42CE-EACB-944A-818E-3647D87DE46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388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F8FD5-0373-52CB-C985-A24C4EB0D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484154-F59E-F9EF-665C-3D482CD87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4FB706-DB4F-E6E9-0F6D-B502C25CB6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8ABFD0-5106-5075-9EA8-12F87A85F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DD51A-2695-1944-9F59-391508BC433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268317E-5A49-CF83-28E0-14F7531D1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66C86B3-8855-5709-D317-98433D1BD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42CE-EACB-944A-818E-3647D87DE46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5144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B05F9B-2EE8-BA06-70CF-664A4710D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E126DB9-5B62-8FEC-2BD4-AB7E232BD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2E0087-011A-AE45-8A17-1A58B0A2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DD51A-2695-1944-9F59-391508BC433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D4AB31-F5DE-387D-BBCA-EAED3B4DF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7FF9CD-8BE7-5132-5B57-4C50E835C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42CE-EACB-944A-818E-3647D87DE46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0733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82A2C6-5348-E4E3-43E8-88A42D6F06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7CD122-98FA-CF81-08E7-987254607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5C225E-92E4-9794-B940-C114C61F3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DD51A-2695-1944-9F59-391508BC433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21E179-BA9A-7187-47E6-1042F7908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6C7195-1E9D-59CB-FD16-A31A31E68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42CE-EACB-944A-818E-3647D87DE46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5354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 03 blanc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14E8383-EBBB-43A5-8288-826364F072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"/>
            <a:ext cx="12191998" cy="6857999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6678" y="2275400"/>
            <a:ext cx="4085072" cy="772601"/>
          </a:xfrm>
        </p:spPr>
        <p:txBody>
          <a:bodyPr anchor="t">
            <a:normAutofit/>
          </a:bodyPr>
          <a:lstStyle>
            <a:lvl1pPr>
              <a:defRPr sz="5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6678" y="3024658"/>
            <a:ext cx="4085072" cy="580525"/>
          </a:xfrm>
        </p:spPr>
        <p:txBody>
          <a:bodyPr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buNone/>
              <a:defRPr sz="2167">
                <a:solidFill>
                  <a:schemeClr val="bg1"/>
                </a:solidFill>
              </a:defRPr>
            </a:lvl1pPr>
            <a:lvl2pPr marL="226210" indent="0">
              <a:buNone/>
              <a:defRPr/>
            </a:lvl2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ipsumUdae</a:t>
            </a:r>
            <a:r>
              <a:rPr lang="es-ES"/>
              <a:t> </a:t>
            </a:r>
            <a:r>
              <a:rPr lang="es-ES" err="1"/>
              <a:t>voluptatur</a:t>
            </a:r>
            <a:r>
              <a:rPr lang="es-ES"/>
              <a:t>? Pitas </a:t>
            </a:r>
            <a:r>
              <a:rPr lang="es-ES" err="1"/>
              <a:t>dolorem</a:t>
            </a:r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BD999AF-4FA8-4A34-BC9D-244C3E9A73D6}"/>
              </a:ext>
            </a:extLst>
          </p:cNvPr>
          <p:cNvSpPr txBox="1"/>
          <p:nvPr userDrawn="1"/>
        </p:nvSpPr>
        <p:spPr>
          <a:xfrm>
            <a:off x="2259430" y="5551840"/>
            <a:ext cx="1281889" cy="3743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33" b="1">
                <a:solidFill>
                  <a:srgbClr val="1E1E1E"/>
                </a:solidFill>
              </a:rPr>
              <a:t>Ve más allá</a:t>
            </a:r>
          </a:p>
        </p:txBody>
      </p: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604FA656-0B6E-4A60-99B0-9022B34BDB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37464" y="4293945"/>
            <a:ext cx="2540000" cy="347251"/>
          </a:xfrm>
        </p:spPr>
        <p:txBody>
          <a:bodyPr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buNone/>
              <a:defRPr sz="1833" b="1">
                <a:solidFill>
                  <a:schemeClr val="bg1"/>
                </a:solidFill>
              </a:defRPr>
            </a:lvl1pPr>
            <a:lvl2pPr marL="226210" indent="0">
              <a:buNone/>
              <a:defRPr/>
            </a:lvl2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3991318B-056F-4F2D-9698-07C899C146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37464" y="4819379"/>
            <a:ext cx="2540000" cy="347251"/>
          </a:xfrm>
        </p:spPr>
        <p:txBody>
          <a:bodyPr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buNone/>
              <a:defRPr sz="1208" b="1">
                <a:solidFill>
                  <a:schemeClr val="bg1"/>
                </a:solidFill>
              </a:defRPr>
            </a:lvl1pPr>
            <a:lvl2pPr marL="226210" indent="0">
              <a:buNone/>
              <a:defRPr/>
            </a:lvl2pPr>
          </a:lstStyle>
          <a:p>
            <a:pPr lvl="0"/>
            <a:r>
              <a:rPr lang="es-ES"/>
              <a:t>Universidadeuropea.com</a:t>
            </a:r>
          </a:p>
        </p:txBody>
      </p:sp>
      <p:sp>
        <p:nvSpPr>
          <p:cNvPr id="16" name="Marcador de texto 6">
            <a:extLst>
              <a:ext uri="{FF2B5EF4-FFF2-40B4-BE49-F238E27FC236}">
                <a16:creationId xmlns:a16="http://schemas.microsoft.com/office/drawing/2014/main" id="{EB186090-37AA-4F50-967D-3BDBD7F87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37464" y="4493699"/>
            <a:ext cx="2540000" cy="347251"/>
          </a:xfrm>
        </p:spPr>
        <p:txBody>
          <a:bodyPr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buNone/>
              <a:defRPr sz="1250" b="0">
                <a:solidFill>
                  <a:schemeClr val="bg1"/>
                </a:solidFill>
              </a:defRPr>
            </a:lvl1pPr>
            <a:lvl2pPr marL="226210" indent="0">
              <a:buNone/>
              <a:defRPr/>
            </a:lvl2pPr>
          </a:lstStyle>
          <a:p>
            <a:pPr lvl="0"/>
            <a:r>
              <a:rPr lang="es-ES"/>
              <a:t>Loremipsum@info.com</a:t>
            </a: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CF431FBC-869A-42BD-8876-A0B0DA4D2D2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5032" y="757370"/>
            <a:ext cx="2425700" cy="6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7676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ra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áfico 11">
            <a:extLst>
              <a:ext uri="{FF2B5EF4-FFF2-40B4-BE49-F238E27FC236}">
                <a16:creationId xmlns:a16="http://schemas.microsoft.com/office/drawing/2014/main" id="{58986412-1BC4-47CA-9C5B-0E42A10721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12609C0-CE8E-4F26-9C56-26779C292085}"/>
              </a:ext>
            </a:extLst>
          </p:cNvPr>
          <p:cNvSpPr txBox="1"/>
          <p:nvPr userDrawn="1"/>
        </p:nvSpPr>
        <p:spPr>
          <a:xfrm>
            <a:off x="677140" y="6477452"/>
            <a:ext cx="34147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3809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800">
                <a:solidFill>
                  <a:schemeClr val="bg1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sz="1500">
              <a:solidFill>
                <a:schemeClr val="bg1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6C8BD96-F01B-45B8-816D-46F9D05B00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2793" y="2369130"/>
            <a:ext cx="3686763" cy="647121"/>
          </a:xfrm>
        </p:spPr>
        <p:txBody>
          <a:bodyPr>
            <a:normAutofit/>
          </a:bodyPr>
          <a:lstStyle>
            <a:lvl1pPr>
              <a:defRPr sz="5000"/>
            </a:lvl1pPr>
          </a:lstStyle>
          <a:p>
            <a:r>
              <a:rPr lang="es-ES"/>
              <a:t>Gracias</a:t>
            </a:r>
            <a:endParaRPr lang="en-US"/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11DB0538-BF7A-408B-8D8F-356A5E0623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07459" y="3040764"/>
            <a:ext cx="3785542" cy="800988"/>
          </a:xfrm>
        </p:spPr>
        <p:txBody>
          <a:bodyPr lIns="0">
            <a:noAutofit/>
          </a:bodyPr>
          <a:lstStyle>
            <a:lvl1pPr marL="0" indent="0">
              <a:lnSpc>
                <a:spcPts val="2333"/>
              </a:lnSpc>
              <a:spcBef>
                <a:spcPts val="750"/>
              </a:spcBef>
              <a:buNone/>
              <a:defRPr sz="2083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</a:t>
            </a:r>
            <a:r>
              <a:rPr lang="es-ES" err="1"/>
              <a:t>Udae</a:t>
            </a:r>
            <a:r>
              <a:rPr lang="es-ES"/>
              <a:t> </a:t>
            </a:r>
            <a:r>
              <a:rPr lang="es-ES" err="1"/>
              <a:t>voluptatur</a:t>
            </a:r>
            <a:r>
              <a:rPr lang="es-ES"/>
              <a:t>? Pitas </a:t>
            </a:r>
            <a:r>
              <a:rPr lang="es-ES" err="1"/>
              <a:t>dolorem</a:t>
            </a:r>
            <a:endParaRPr lang="es-ES"/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FB1C9EB0-95F2-4DA1-AF97-1506B0C3FD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71152" y="4561438"/>
            <a:ext cx="2714037" cy="263736"/>
          </a:xfrm>
        </p:spPr>
        <p:txBody>
          <a:bodyPr lIns="0">
            <a:noAutofit/>
          </a:bodyPr>
          <a:lstStyle>
            <a:lvl1pPr marL="0" indent="0">
              <a:lnSpc>
                <a:spcPts val="1417"/>
              </a:lnSpc>
              <a:spcBef>
                <a:spcPts val="750"/>
              </a:spcBef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ipsum@info.com</a:t>
            </a:r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E7C874BE-A19E-48B7-AC48-D4C857D7A9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71152" y="4286963"/>
            <a:ext cx="2714036" cy="263736"/>
          </a:xfrm>
        </p:spPr>
        <p:txBody>
          <a:bodyPr lIns="0">
            <a:noAutofit/>
          </a:bodyPr>
          <a:lstStyle>
            <a:lvl1pPr marL="0" indent="0">
              <a:lnSpc>
                <a:spcPts val="2333"/>
              </a:lnSpc>
              <a:buNone/>
              <a:defRPr sz="1833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983F7AB7-EF84-4792-8807-631A61157F6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71152" y="4887929"/>
            <a:ext cx="2714037" cy="263736"/>
          </a:xfrm>
        </p:spPr>
        <p:txBody>
          <a:bodyPr lIns="0">
            <a:noAutofit/>
          </a:bodyPr>
          <a:lstStyle>
            <a:lvl1pPr marL="0" indent="0">
              <a:lnSpc>
                <a:spcPts val="1417"/>
              </a:lnSpc>
              <a:spcBef>
                <a:spcPts val="750"/>
              </a:spcBef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Universidadeuropea.com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03B4663-693F-4482-99D6-BFAAF6A3D27D}"/>
              </a:ext>
            </a:extLst>
          </p:cNvPr>
          <p:cNvSpPr txBox="1"/>
          <p:nvPr userDrawn="1"/>
        </p:nvSpPr>
        <p:spPr>
          <a:xfrm>
            <a:off x="7550876" y="5581999"/>
            <a:ext cx="1535998" cy="3743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s-ES" sz="1833" b="1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rPr>
              <a:t>Ve más allá</a:t>
            </a:r>
          </a:p>
        </p:txBody>
      </p:sp>
    </p:spTree>
    <p:extLst>
      <p:ext uri="{BB962C8B-B14F-4D97-AF65-F5344CB8AC3E}">
        <p14:creationId xmlns:p14="http://schemas.microsoft.com/office/powerpoint/2010/main" val="17836903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25449B5B-E8A3-47B9-BE8C-1442A097B9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36793" y="706555"/>
            <a:ext cx="3686763" cy="1017764"/>
          </a:xfrm>
        </p:spPr>
        <p:txBody>
          <a:bodyPr>
            <a:normAutofit/>
          </a:bodyPr>
          <a:lstStyle>
            <a:lvl1pPr>
              <a:defRPr sz="5250"/>
            </a:lvl1pPr>
          </a:lstStyle>
          <a:p>
            <a:r>
              <a:rPr lang="es-ES"/>
              <a:t>Índice</a:t>
            </a:r>
            <a:endParaRPr lang="en-US"/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B8C616AF-0352-4AE7-BD28-0925BB5C16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13922" y="1895446"/>
            <a:ext cx="6744375" cy="3579665"/>
          </a:xfrm>
        </p:spPr>
        <p:txBody>
          <a:bodyPr/>
          <a:lstStyle>
            <a:lvl1pPr defTabSz="5983313">
              <a:tabLst/>
              <a:defRPr/>
            </a:lvl1pPr>
            <a:lvl2pPr defTabSz="1678715">
              <a:tabLst>
                <a:tab pos="5983313" algn="l"/>
              </a:tabLst>
              <a:defRPr/>
            </a:lvl2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	01</a:t>
            </a:r>
          </a:p>
          <a:p>
            <a:pPr lvl="1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	02</a:t>
            </a:r>
          </a:p>
          <a:p>
            <a:pPr lvl="1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	03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	04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	05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	06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	07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	08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	09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98F2FCB-7E2F-400B-81B1-18B456AE6C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1C9A96A-A9B6-43C0-858A-F037F92BE03F}"/>
              </a:ext>
            </a:extLst>
          </p:cNvPr>
          <p:cNvSpPr txBox="1"/>
          <p:nvPr userDrawn="1"/>
        </p:nvSpPr>
        <p:spPr>
          <a:xfrm>
            <a:off x="360774" y="6477452"/>
            <a:ext cx="34147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3809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80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sz="150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5D52EBB-81B5-4744-AA02-0E98817C6CEE}"/>
              </a:ext>
            </a:extLst>
          </p:cNvPr>
          <p:cNvSpPr/>
          <p:nvPr userDrawn="1"/>
        </p:nvSpPr>
        <p:spPr>
          <a:xfrm>
            <a:off x="11436615" y="6308837"/>
            <a:ext cx="320808" cy="320808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50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EA0D54E8-0AA0-4881-8D77-02CAACF360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035" y="277478"/>
            <a:ext cx="1166712" cy="3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198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c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ECDC97-706A-4416-9EA1-C9FD7EDD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B12B4E-C17A-41FB-86C3-4075B88FFB48}"/>
              </a:ext>
            </a:extLst>
          </p:cNvPr>
          <p:cNvSpPr txBox="1"/>
          <p:nvPr userDrawn="1"/>
        </p:nvSpPr>
        <p:spPr>
          <a:xfrm>
            <a:off x="360774" y="6477452"/>
            <a:ext cx="34147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3809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80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sz="150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F3A0E82-FF4A-4767-8F46-4CEFBC357853}"/>
              </a:ext>
            </a:extLst>
          </p:cNvPr>
          <p:cNvSpPr/>
          <p:nvPr userDrawn="1"/>
        </p:nvSpPr>
        <p:spPr>
          <a:xfrm>
            <a:off x="11436615" y="6308837"/>
            <a:ext cx="320808" cy="320808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50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827D429-903C-403E-A91E-3413C7FBF9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5386" y="985133"/>
            <a:ext cx="5468291" cy="585905"/>
          </a:xfrm>
        </p:spPr>
        <p:txBody>
          <a:bodyPr lIns="0" anchor="t">
            <a:noAutofit/>
          </a:bodyPr>
          <a:lstStyle>
            <a:lvl1pPr>
              <a:defRPr sz="3608"/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endParaRPr lang="en-US"/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D53EF393-3DBA-494A-AF34-ACE206FF818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5386" y="2305889"/>
            <a:ext cx="7459927" cy="3792758"/>
          </a:xfrm>
        </p:spPr>
        <p:txBody>
          <a:bodyPr lIns="0">
            <a:noAutofit/>
          </a:bodyPr>
          <a:lstStyle>
            <a:lvl1pPr marL="0" indent="0">
              <a:lnSpc>
                <a:spcPts val="1417"/>
              </a:lnSpc>
              <a:spcBef>
                <a:spcPts val="750"/>
              </a:spcBef>
              <a:spcAft>
                <a:spcPts val="750"/>
              </a:spcAft>
              <a:buNone/>
              <a:defRPr sz="120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 qui </a:t>
            </a:r>
            <a:r>
              <a:rPr lang="es-ES" err="1"/>
              <a:t>alitiis</a:t>
            </a:r>
            <a:r>
              <a:rPr lang="es-ES"/>
              <a:t> sitia quo </a:t>
            </a:r>
            <a:r>
              <a:rPr lang="es-ES" err="1"/>
              <a:t>totationsedi</a:t>
            </a:r>
            <a:r>
              <a:rPr lang="es-ES"/>
              <a:t> </a:t>
            </a:r>
            <a:r>
              <a:rPr lang="es-ES" err="1"/>
              <a:t>dolorpor</a:t>
            </a:r>
            <a:r>
              <a:rPr lang="es-ES"/>
              <a:t> </a:t>
            </a:r>
            <a:r>
              <a:rPr lang="es-ES" err="1"/>
              <a:t>samus</a:t>
            </a:r>
            <a:r>
              <a:rPr lang="es-ES"/>
              <a:t> am, </a:t>
            </a:r>
            <a:r>
              <a:rPr lang="es-ES" err="1"/>
              <a:t>ullabore</a:t>
            </a:r>
            <a:r>
              <a:rPr lang="es-ES"/>
              <a:t> </a:t>
            </a:r>
            <a:r>
              <a:rPr lang="es-ES" err="1"/>
              <a:t>nihicipsusa</a:t>
            </a:r>
            <a:r>
              <a:rPr lang="es-ES"/>
              <a:t>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conet</a:t>
            </a:r>
            <a:r>
              <a:rPr lang="es-ES"/>
              <a:t> </a:t>
            </a:r>
            <a:r>
              <a:rPr lang="es-ES" err="1"/>
              <a:t>quuntin</a:t>
            </a:r>
            <a:r>
              <a:rPr lang="es-ES"/>
              <a:t> </a:t>
            </a:r>
            <a:r>
              <a:rPr lang="es-ES" err="1"/>
              <a:t>ullabor</a:t>
            </a:r>
            <a:r>
              <a:rPr lang="es-ES"/>
              <a:t> </a:t>
            </a:r>
            <a:r>
              <a:rPr lang="es-ES" err="1"/>
              <a:t>ionsequos</a:t>
            </a:r>
            <a:r>
              <a:rPr lang="es-ES"/>
              <a:t> es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moloreptur</a:t>
            </a:r>
            <a:r>
              <a:rPr lang="es-ES"/>
              <a:t> </a:t>
            </a:r>
            <a:r>
              <a:rPr lang="es-ES" err="1"/>
              <a:t>molorep</a:t>
            </a:r>
            <a:r>
              <a:rPr lang="es-ES"/>
              <a:t> </a:t>
            </a:r>
            <a:r>
              <a:rPr lang="es-ES" err="1"/>
              <a:t>erspica</a:t>
            </a:r>
            <a:r>
              <a:rPr lang="es-ES"/>
              <a:t> </a:t>
            </a:r>
            <a:r>
              <a:rPr lang="es-ES" err="1"/>
              <a:t>tiossin</a:t>
            </a:r>
            <a:r>
              <a:rPr lang="es-ES"/>
              <a:t> </a:t>
            </a:r>
            <a:r>
              <a:rPr lang="es-ES" err="1"/>
              <a:t>vendae</a:t>
            </a:r>
            <a:r>
              <a:rPr lang="es-ES"/>
              <a:t> dolor as dolo </a:t>
            </a:r>
            <a:r>
              <a:rPr lang="es-ES" err="1"/>
              <a:t>consendit</a:t>
            </a:r>
            <a:r>
              <a:rPr lang="es-ES"/>
              <a:t>.</a:t>
            </a:r>
          </a:p>
          <a:p>
            <a:pPr lvl="0"/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Ehenima</a:t>
            </a:r>
            <a:r>
              <a:rPr lang="es-ES"/>
              <a:t> </a:t>
            </a:r>
            <a:r>
              <a:rPr lang="es-ES" err="1"/>
              <a:t>gniatis</a:t>
            </a:r>
            <a:r>
              <a:rPr lang="es-ES"/>
              <a:t> </a:t>
            </a:r>
            <a:r>
              <a:rPr lang="es-ES" err="1"/>
              <a:t>nus</a:t>
            </a:r>
            <a:r>
              <a:rPr lang="es-ES"/>
              <a:t> </a:t>
            </a:r>
            <a:r>
              <a:rPr lang="es-ES" err="1"/>
              <a:t>reped</a:t>
            </a:r>
            <a:r>
              <a:rPr lang="es-ES"/>
              <a:t> </a:t>
            </a:r>
            <a:r>
              <a:rPr lang="es-ES" err="1"/>
              <a:t>mint</a:t>
            </a:r>
            <a:r>
              <a:rPr lang="es-ES"/>
              <a:t> a </a:t>
            </a:r>
            <a:r>
              <a:rPr lang="es-ES" err="1"/>
              <a:t>velit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est</a:t>
            </a:r>
            <a:r>
              <a:rPr lang="es-ES"/>
              <a:t>, </a:t>
            </a:r>
            <a:r>
              <a:rPr lang="es-ES" err="1"/>
              <a:t>cusdae</a:t>
            </a:r>
            <a:r>
              <a:rPr lang="es-ES"/>
              <a:t> </a:t>
            </a:r>
            <a:r>
              <a:rPr lang="es-ES" err="1"/>
              <a:t>etur</a:t>
            </a:r>
            <a:r>
              <a:rPr lang="es-ES"/>
              <a:t> </a:t>
            </a:r>
            <a:r>
              <a:rPr lang="es-ES" err="1"/>
              <a:t>apic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testi</a:t>
            </a:r>
            <a:r>
              <a:rPr lang="es-ES"/>
              <a:t> sed este </a:t>
            </a:r>
            <a:r>
              <a:rPr lang="es-ES" err="1"/>
              <a:t>eum</a:t>
            </a:r>
            <a:r>
              <a:rPr lang="es-ES"/>
              <a:t> fuga. </a:t>
            </a:r>
            <a:r>
              <a:rPr lang="es-ES" err="1"/>
              <a:t>Lenet</a:t>
            </a:r>
            <a:r>
              <a:rPr lang="es-ES"/>
              <a:t> et </a:t>
            </a:r>
            <a:r>
              <a:rPr lang="es-ES" err="1"/>
              <a:t>laborerum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quamus</a:t>
            </a:r>
            <a:r>
              <a:rPr lang="es-ES"/>
              <a:t> </a:t>
            </a:r>
            <a:r>
              <a:rPr lang="es-ES" err="1"/>
              <a:t>sinventio</a:t>
            </a:r>
            <a:r>
              <a:rPr lang="es-ES"/>
              <a:t> </a:t>
            </a:r>
            <a:r>
              <a:rPr lang="es-ES" err="1"/>
              <a:t>molentur</a:t>
            </a:r>
            <a:r>
              <a:rPr lang="es-ES"/>
              <a:t> </a:t>
            </a:r>
            <a:r>
              <a:rPr lang="es-ES" err="1"/>
              <a:t>maio</a:t>
            </a:r>
            <a:r>
              <a:rPr lang="es-ES"/>
              <a:t> </a:t>
            </a:r>
            <a:r>
              <a:rPr lang="es-ES" err="1"/>
              <a:t>bernam</a:t>
            </a:r>
            <a:r>
              <a:rPr lang="es-ES"/>
              <a:t> </a:t>
            </a:r>
            <a:r>
              <a:rPr lang="es-ES" err="1"/>
              <a:t>dollandel</a:t>
            </a:r>
            <a:r>
              <a:rPr lang="es-ES"/>
              <a:t> </a:t>
            </a:r>
            <a:r>
              <a:rPr lang="es-ES" err="1"/>
              <a:t>experovit</a:t>
            </a:r>
            <a:r>
              <a:rPr lang="es-ES"/>
              <a:t>, </a:t>
            </a:r>
            <a:r>
              <a:rPr lang="es-ES" err="1"/>
              <a:t>odictatum</a:t>
            </a:r>
            <a:r>
              <a:rPr lang="es-ES"/>
              <a:t> re </a:t>
            </a:r>
            <a:r>
              <a:rPr lang="es-ES" err="1"/>
              <a:t>accus</a:t>
            </a:r>
            <a:r>
              <a:rPr lang="es-ES"/>
              <a:t> </a:t>
            </a:r>
            <a:r>
              <a:rPr lang="es-ES" err="1"/>
              <a:t>dolorruptium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</a:t>
            </a:r>
            <a:r>
              <a:rPr lang="es-ES" err="1"/>
              <a:t>cus</a:t>
            </a:r>
            <a:r>
              <a:rPr lang="es-ES"/>
              <a:t>.</a:t>
            </a:r>
          </a:p>
          <a:p>
            <a:pPr lvl="0"/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Ommos</a:t>
            </a:r>
            <a:r>
              <a:rPr lang="es-ES"/>
              <a:t> </a:t>
            </a:r>
            <a:r>
              <a:rPr lang="es-ES" err="1"/>
              <a:t>num</a:t>
            </a:r>
            <a:r>
              <a:rPr lang="es-ES"/>
              <a:t> ad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ilitatur</a:t>
            </a:r>
            <a:r>
              <a:rPr lang="es-ES"/>
              <a:t> </a:t>
            </a:r>
            <a:r>
              <a:rPr lang="es-ES" err="1"/>
              <a:t>sitiam</a:t>
            </a:r>
            <a:r>
              <a:rPr lang="es-ES"/>
              <a:t> </a:t>
            </a:r>
            <a:r>
              <a:rPr lang="es-ES" err="1"/>
              <a:t>fugiamet</a:t>
            </a:r>
            <a:r>
              <a:rPr lang="es-ES"/>
              <a:t> </a:t>
            </a:r>
            <a:r>
              <a:rPr lang="es-ES" err="1"/>
              <a:t>dipsant</a:t>
            </a:r>
            <a:r>
              <a:rPr lang="es-ES"/>
              <a:t> </a:t>
            </a:r>
            <a:r>
              <a:rPr lang="es-ES" err="1"/>
              <a:t>incime</a:t>
            </a:r>
            <a:r>
              <a:rPr lang="es-ES"/>
              <a:t> </a:t>
            </a:r>
            <a:r>
              <a:rPr lang="es-ES" err="1"/>
              <a:t>voluptibus</a:t>
            </a:r>
            <a:r>
              <a:rPr lang="es-ES"/>
              <a:t> </a:t>
            </a:r>
            <a:r>
              <a:rPr lang="es-ES" err="1"/>
              <a:t>eumquo</a:t>
            </a:r>
            <a:r>
              <a:rPr lang="es-ES"/>
              <a:t> et </a:t>
            </a:r>
            <a:r>
              <a:rPr lang="es-ES" err="1"/>
              <a:t>elibusa</a:t>
            </a:r>
            <a:r>
              <a:rPr lang="es-ES"/>
              <a:t> </a:t>
            </a:r>
            <a:r>
              <a:rPr lang="es-ES" err="1"/>
              <a:t>consed</a:t>
            </a:r>
            <a:r>
              <a:rPr lang="es-ES"/>
              <a:t> </a:t>
            </a:r>
            <a:r>
              <a:rPr lang="es-ES" err="1"/>
              <a:t>quam</a:t>
            </a:r>
            <a:r>
              <a:rPr lang="es-ES"/>
              <a:t>, </a:t>
            </a:r>
            <a:r>
              <a:rPr lang="es-ES" err="1"/>
              <a:t>tecesciis</a:t>
            </a:r>
            <a:r>
              <a:rPr lang="es-ES"/>
              <a:t> </a:t>
            </a:r>
            <a:r>
              <a:rPr lang="es-ES" err="1"/>
              <a:t>velignimus</a:t>
            </a:r>
            <a:r>
              <a:rPr lang="es-ES"/>
              <a:t>, </a:t>
            </a:r>
            <a:r>
              <a:rPr lang="es-ES" err="1"/>
              <a:t>exped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con </a:t>
            </a:r>
            <a:r>
              <a:rPr lang="es-ES" err="1"/>
              <a:t>nis</a:t>
            </a:r>
            <a:r>
              <a:rPr lang="es-ES"/>
              <a:t> dolor sunt opta qui </a:t>
            </a:r>
            <a:r>
              <a:rPr lang="es-ES" err="1"/>
              <a:t>bero</a:t>
            </a:r>
            <a:r>
              <a:rPr lang="es-ES"/>
              <a:t> con </a:t>
            </a:r>
            <a:r>
              <a:rPr lang="es-ES" err="1"/>
              <a:t>porum</a:t>
            </a:r>
            <a:r>
              <a:rPr lang="es-ES"/>
              <a:t> </a:t>
            </a:r>
            <a:r>
              <a:rPr lang="es-ES" err="1"/>
              <a:t>delique</a:t>
            </a:r>
            <a:r>
              <a:rPr lang="es-ES"/>
              <a:t> </a:t>
            </a:r>
            <a:r>
              <a:rPr lang="es-ES" err="1"/>
              <a:t>cus</a:t>
            </a:r>
            <a:r>
              <a:rPr lang="es-ES"/>
              <a:t> et </a:t>
            </a:r>
            <a:r>
              <a:rPr lang="es-ES" err="1"/>
              <a:t>et</a:t>
            </a:r>
            <a:r>
              <a:rPr lang="es-ES"/>
              <a:t> </a:t>
            </a:r>
            <a:r>
              <a:rPr lang="es-ES" err="1"/>
              <a:t>voloribus</a:t>
            </a:r>
            <a:r>
              <a:rPr lang="es-ES"/>
              <a:t> </a:t>
            </a:r>
            <a:r>
              <a:rPr lang="es-ES" err="1"/>
              <a:t>expella</a:t>
            </a:r>
            <a:r>
              <a:rPr lang="es-ES"/>
              <a:t> </a:t>
            </a:r>
            <a:r>
              <a:rPr lang="es-ES" err="1"/>
              <a:t>borepe</a:t>
            </a:r>
            <a:r>
              <a:rPr lang="es-ES"/>
              <a:t> </a:t>
            </a:r>
            <a:r>
              <a:rPr lang="es-ES" err="1"/>
              <a:t>ped</a:t>
            </a:r>
            <a:r>
              <a:rPr lang="es-ES"/>
              <a:t> </a:t>
            </a:r>
            <a:r>
              <a:rPr lang="es-ES" err="1"/>
              <a:t>eum</a:t>
            </a:r>
            <a:r>
              <a:rPr lang="es-ES"/>
              <a:t> </a:t>
            </a:r>
            <a:r>
              <a:rPr lang="es-ES" err="1"/>
              <a:t>endios</a:t>
            </a:r>
            <a:r>
              <a:rPr lang="es-ES"/>
              <a:t> </a:t>
            </a:r>
            <a:r>
              <a:rPr lang="es-ES" err="1"/>
              <a:t>exerat</a:t>
            </a:r>
            <a:r>
              <a:rPr lang="es-ES"/>
              <a:t> </a:t>
            </a:r>
            <a:r>
              <a:rPr lang="es-ES" err="1"/>
              <a:t>debiti</a:t>
            </a:r>
            <a:r>
              <a:rPr lang="es-ES"/>
              <a:t> </a:t>
            </a:r>
            <a:r>
              <a:rPr lang="es-ES" err="1"/>
              <a:t>doluptatur</a:t>
            </a:r>
            <a:r>
              <a:rPr lang="es-ES"/>
              <a:t>, que dicto </a:t>
            </a:r>
            <a:r>
              <a:rPr lang="es-ES" err="1"/>
              <a:t>consecume</a:t>
            </a:r>
            <a:r>
              <a:rPr lang="es-ES"/>
              <a:t> re, </a:t>
            </a:r>
            <a:r>
              <a:rPr lang="es-ES" err="1"/>
              <a:t>nusam</a:t>
            </a:r>
            <a:r>
              <a:rPr lang="es-ES"/>
              <a:t> et </a:t>
            </a:r>
            <a:r>
              <a:rPr lang="es-ES" err="1"/>
              <a:t>videllu</a:t>
            </a:r>
            <a:r>
              <a:rPr lang="es-ES"/>
              <a:t> </a:t>
            </a:r>
            <a:r>
              <a:rPr lang="es-ES" err="1"/>
              <a:t>picient</a:t>
            </a:r>
            <a:r>
              <a:rPr lang="es-ES"/>
              <a:t> </a:t>
            </a:r>
            <a:r>
              <a:rPr lang="es-ES" err="1"/>
              <a:t>iasperc</a:t>
            </a:r>
            <a:r>
              <a:rPr lang="es-ES"/>
              <a:t> </a:t>
            </a:r>
            <a:r>
              <a:rPr lang="es-ES" err="1"/>
              <a:t>hitatur</a:t>
            </a:r>
            <a:r>
              <a:rPr lang="es-ES"/>
              <a:t> </a:t>
            </a:r>
            <a:r>
              <a:rPr lang="es-ES" err="1"/>
              <a:t>ectibus</a:t>
            </a:r>
            <a:r>
              <a:rPr lang="es-ES"/>
              <a:t> </a:t>
            </a:r>
            <a:r>
              <a:rPr lang="es-ES" err="1"/>
              <a:t>eatenih</a:t>
            </a:r>
            <a:r>
              <a:rPr lang="es-ES"/>
              <a:t> </a:t>
            </a:r>
            <a:r>
              <a:rPr lang="es-ES" err="1"/>
              <a:t>iliquatibus</a:t>
            </a:r>
            <a:r>
              <a:rPr lang="es-ES"/>
              <a:t> </a:t>
            </a:r>
            <a:r>
              <a:rPr lang="es-ES" err="1"/>
              <a:t>volora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 </a:t>
            </a:r>
            <a:r>
              <a:rPr lang="es-ES" err="1"/>
              <a:t>earions</a:t>
            </a:r>
            <a:r>
              <a:rPr lang="es-ES"/>
              <a:t> </a:t>
            </a:r>
            <a:r>
              <a:rPr lang="es-ES" err="1"/>
              <a:t>equi</a:t>
            </a:r>
            <a:r>
              <a:rPr lang="es-ES"/>
              <a:t>. </a:t>
            </a:r>
            <a:br>
              <a:rPr lang="es-ES"/>
            </a:br>
            <a:r>
              <a:rPr lang="es-ES" err="1"/>
              <a:t>volorumqui</a:t>
            </a:r>
            <a:r>
              <a:rPr lang="es-ES"/>
              <a:t> con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rerferibus</a:t>
            </a:r>
            <a:r>
              <a:rPr lang="es-ES"/>
              <a:t> </a:t>
            </a:r>
            <a:r>
              <a:rPr lang="es-ES" err="1"/>
              <a:t>alit</a:t>
            </a:r>
            <a:r>
              <a:rPr lang="es-ES"/>
              <a:t> </a:t>
            </a:r>
            <a:r>
              <a:rPr lang="es-ES" err="1"/>
              <a:t>accabor</a:t>
            </a:r>
            <a:r>
              <a:rPr lang="es-ES"/>
              <a:t> </a:t>
            </a:r>
            <a:r>
              <a:rPr lang="es-ES" err="1"/>
              <a:t>itatem</a:t>
            </a:r>
            <a:r>
              <a:rPr lang="es-ES"/>
              <a:t> </a:t>
            </a:r>
            <a:r>
              <a:rPr lang="es-ES" err="1"/>
              <a:t>simolorio</a:t>
            </a:r>
            <a:r>
              <a:rPr lang="es-ES"/>
              <a:t> es </a:t>
            </a:r>
            <a:r>
              <a:rPr lang="es-ES" err="1"/>
              <a:t>etus</a:t>
            </a:r>
            <a:r>
              <a:rPr lang="es-ES"/>
              <a:t> </a:t>
            </a:r>
            <a:r>
              <a:rPr lang="es-ES" err="1"/>
              <a:t>esseque</a:t>
            </a:r>
            <a:r>
              <a:rPr lang="es-ES"/>
              <a:t> veles es </a:t>
            </a:r>
            <a:r>
              <a:rPr lang="es-ES" err="1"/>
              <a:t>dunt</a:t>
            </a:r>
            <a:r>
              <a:rPr lang="es-ES"/>
              <a:t> </a:t>
            </a:r>
            <a:r>
              <a:rPr lang="es-ES" err="1"/>
              <a:t>officta</a:t>
            </a:r>
            <a:r>
              <a:rPr lang="es-ES"/>
              <a:t> </a:t>
            </a:r>
            <a:r>
              <a:rPr lang="es-ES" err="1"/>
              <a:t>erupta</a:t>
            </a:r>
            <a:r>
              <a:rPr lang="es-ES"/>
              <a:t> </a:t>
            </a:r>
            <a:r>
              <a:rPr lang="es-ES" err="1"/>
              <a:t>ant</a:t>
            </a:r>
            <a:r>
              <a:rPr lang="es-ES"/>
              <a:t> </a:t>
            </a:r>
            <a:r>
              <a:rPr lang="es-ES" err="1"/>
              <a:t>omniment</a:t>
            </a:r>
            <a:r>
              <a:rPr lang="es-ES"/>
              <a:t> </a:t>
            </a:r>
            <a:r>
              <a:rPr lang="es-ES" err="1"/>
              <a:t>odi</a:t>
            </a:r>
            <a:r>
              <a:rPr lang="es-ES"/>
              <a:t> </a:t>
            </a:r>
            <a:r>
              <a:rPr lang="es-ES" err="1"/>
              <a:t>deria</a:t>
            </a:r>
            <a:r>
              <a:rPr lang="es-ES"/>
              <a:t> </a:t>
            </a:r>
            <a:r>
              <a:rPr lang="es-ES" err="1"/>
              <a:t>evelibuscia</a:t>
            </a:r>
            <a:r>
              <a:rPr lang="es-ES"/>
              <a:t> non re </a:t>
            </a:r>
            <a:r>
              <a:rPr lang="es-ES" err="1"/>
              <a:t>voleste</a:t>
            </a:r>
            <a:r>
              <a:rPr lang="es-ES"/>
              <a:t>.</a:t>
            </a:r>
          </a:p>
        </p:txBody>
      </p:sp>
      <p:sp>
        <p:nvSpPr>
          <p:cNvPr id="16" name="Marcador de texto 4">
            <a:extLst>
              <a:ext uri="{FF2B5EF4-FFF2-40B4-BE49-F238E27FC236}">
                <a16:creationId xmlns:a16="http://schemas.microsoft.com/office/drawing/2014/main" id="{FAC65DA7-3C33-485C-B20C-A039012FE8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5386" y="1810812"/>
            <a:ext cx="4726781" cy="495077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0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000" err="1"/>
              <a:t>Aximinct</a:t>
            </a:r>
            <a:r>
              <a:rPr lang="es-ES" sz="2000"/>
              <a:t> </a:t>
            </a:r>
            <a:r>
              <a:rPr lang="es-ES" sz="2000" err="1"/>
              <a:t>emquibus</a:t>
            </a:r>
            <a:r>
              <a:rPr lang="es-ES" sz="2000"/>
              <a:t> et </a:t>
            </a:r>
            <a:r>
              <a:rPr lang="es-ES" sz="2000" err="1"/>
              <a:t>facium</a:t>
            </a:r>
            <a:r>
              <a:rPr lang="es-ES" sz="2000"/>
              <a:t> </a:t>
            </a:r>
            <a:r>
              <a:rPr lang="es-ES" sz="2000" err="1"/>
              <a:t>natur</a:t>
            </a:r>
            <a:endParaRPr lang="en-US" sz="200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124FC6AE-9F44-4BC7-8570-A9AC27B43E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7035" y="277478"/>
            <a:ext cx="1166712" cy="3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150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8EC1491-8174-4C91-B52B-99EB2D3F1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39A93D-38A5-6908-EA30-C8D31252C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3CEB6C-CE20-8236-A5E3-3B49EBA72B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DD51A-2695-1944-9F59-391508BC433B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ACB3BE-B90A-04E9-671F-2CC080884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E7B42-1859-3850-36C3-D631DD69D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A42CE-EACB-944A-818E-3647D87DE46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2399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3" r:id="rId13"/>
    <p:sldLayoutId id="2147483664" r:id="rId14"/>
    <p:sldLayoutId id="214748366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BE576E-9578-472B-AD3E-F6CC75988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112" y="2198639"/>
            <a:ext cx="4085072" cy="1244133"/>
          </a:xfrm>
        </p:spPr>
        <p:txBody>
          <a:bodyPr>
            <a:noAutofit/>
          </a:bodyPr>
          <a:lstStyle/>
          <a:p>
            <a:r>
              <a:rPr lang="es-ES" sz="3600" dirty="0" err="1"/>
              <a:t>Reaction</a:t>
            </a:r>
            <a:r>
              <a:rPr lang="es-ES" sz="3600" dirty="0"/>
              <a:t> Wheel </a:t>
            </a:r>
            <a:r>
              <a:rPr lang="es-ES" sz="3600" dirty="0" err="1"/>
              <a:t>simulation</a:t>
            </a:r>
            <a:endParaRPr lang="es-ES" sz="3600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E8135E8-F95A-4929-B587-5FD2BEA4B3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72579" y="4234240"/>
            <a:ext cx="3323421" cy="877821"/>
          </a:xfrm>
        </p:spPr>
        <p:txBody>
          <a:bodyPr/>
          <a:lstStyle/>
          <a:p>
            <a:r>
              <a:rPr lang="es-ES" sz="1800" dirty="0"/>
              <a:t>Antonio Hernández-</a:t>
            </a:r>
            <a:r>
              <a:rPr lang="es-ES" sz="1800" dirty="0" err="1"/>
              <a:t>Rodicio</a:t>
            </a:r>
            <a:r>
              <a:rPr lang="es-ES" sz="1800" dirty="0"/>
              <a:t> Mateos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622FBB9-94E0-411D-9D84-CA342F95E9F4}"/>
              </a:ext>
            </a:extLst>
          </p:cNvPr>
          <p:cNvSpPr txBox="1"/>
          <p:nvPr/>
        </p:nvSpPr>
        <p:spPr>
          <a:xfrm>
            <a:off x="3600956" y="3814377"/>
            <a:ext cx="203572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November 26</a:t>
            </a:r>
            <a:r>
              <a:rPr lang="en-US" sz="1500" baseline="30000" dirty="0">
                <a:solidFill>
                  <a:schemeClr val="bg1"/>
                </a:solidFill>
              </a:rPr>
              <a:t>th</a:t>
            </a:r>
            <a:r>
              <a:rPr lang="en-US" sz="1500" dirty="0">
                <a:solidFill>
                  <a:schemeClr val="bg1"/>
                </a:solidFill>
              </a:rPr>
              <a:t>, 2025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C53F36B-6CBD-D021-84EA-5F754B16CF1D}"/>
              </a:ext>
            </a:extLst>
          </p:cNvPr>
          <p:cNvSpPr txBox="1"/>
          <p:nvPr/>
        </p:nvSpPr>
        <p:spPr>
          <a:xfrm>
            <a:off x="8707190" y="5665502"/>
            <a:ext cx="33701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0" i="0" dirty="0">
                <a:solidFill>
                  <a:schemeClr val="bg1"/>
                </a:solidFill>
                <a:effectLst/>
                <a:latin typeface="Sunflower"/>
              </a:rPr>
              <a:t>NASA – </a:t>
            </a:r>
            <a:r>
              <a:rPr lang="es-ES" b="0" i="0" dirty="0">
                <a:solidFill>
                  <a:srgbClr val="FFFFFF"/>
                </a:solidFill>
                <a:effectLst/>
                <a:latin typeface="Sunflower"/>
              </a:rPr>
              <a:t>Hubble </a:t>
            </a:r>
            <a:r>
              <a:rPr lang="es-ES" b="0" i="0" dirty="0" err="1">
                <a:solidFill>
                  <a:srgbClr val="FFFFFF"/>
                </a:solidFill>
                <a:effectLst/>
                <a:latin typeface="Sunflower"/>
              </a:rPr>
              <a:t>Against</a:t>
            </a:r>
            <a:r>
              <a:rPr lang="es-ES" b="0" i="0" dirty="0">
                <a:solidFill>
                  <a:srgbClr val="FFFFFF"/>
                </a:solidFill>
                <a:effectLst/>
                <a:latin typeface="Sunflower"/>
              </a:rPr>
              <a:t> </a:t>
            </a:r>
            <a:r>
              <a:rPr lang="es-ES" b="0" i="0" dirty="0" err="1">
                <a:solidFill>
                  <a:srgbClr val="FFFFFF"/>
                </a:solidFill>
                <a:effectLst/>
                <a:latin typeface="Sunflower"/>
              </a:rPr>
              <a:t>Earth</a:t>
            </a:r>
            <a:r>
              <a:rPr lang="es-ES" dirty="0">
                <a:solidFill>
                  <a:srgbClr val="FFFFFF"/>
                </a:solidFill>
                <a:latin typeface="Sunflower"/>
              </a:rPr>
              <a:t> </a:t>
            </a:r>
            <a:r>
              <a:rPr lang="es-ES" dirty="0" err="1">
                <a:solidFill>
                  <a:srgbClr val="FFFFFF"/>
                </a:solidFill>
                <a:latin typeface="Sunflower"/>
              </a:rPr>
              <a:t>Horizon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383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77AB43-F98E-44C0-A94F-73D42AF4DB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5653" y="1670322"/>
            <a:ext cx="8305212" cy="4528255"/>
          </a:xfrm>
        </p:spPr>
        <p:txBody>
          <a:bodyPr>
            <a:normAutofit fontScale="92500" lnSpcReduction="10000"/>
          </a:bodyPr>
          <a:lstStyle/>
          <a:p>
            <a:pPr marL="514350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es-ES" b="1" dirty="0" err="1"/>
              <a:t>Introduction</a:t>
            </a:r>
            <a:endParaRPr lang="es-ES" b="1" dirty="0"/>
          </a:p>
          <a:p>
            <a:pPr marL="514350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es-ES" b="1" dirty="0"/>
              <a:t>Dynamics </a:t>
            </a:r>
            <a:r>
              <a:rPr lang="es-ES" b="1" dirty="0" err="1"/>
              <a:t>of</a:t>
            </a:r>
            <a:r>
              <a:rPr lang="es-ES" b="1" dirty="0"/>
              <a:t> </a:t>
            </a:r>
            <a:r>
              <a:rPr lang="es-ES" b="1" dirty="0" err="1"/>
              <a:t>the</a:t>
            </a:r>
            <a:r>
              <a:rPr lang="es-ES" b="1" dirty="0"/>
              <a:t> </a:t>
            </a:r>
            <a:r>
              <a:rPr lang="es-ES" b="1" dirty="0" err="1"/>
              <a:t>problem</a:t>
            </a:r>
            <a:endParaRPr lang="es-ES" b="1" dirty="0"/>
          </a:p>
          <a:p>
            <a:pPr marL="514350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es-ES" b="1" dirty="0"/>
              <a:t>Dynamics </a:t>
            </a:r>
            <a:r>
              <a:rPr lang="es-ES" b="1" dirty="0" err="1"/>
              <a:t>Simulink</a:t>
            </a:r>
            <a:r>
              <a:rPr lang="es-ES" b="1" dirty="0"/>
              <a:t> </a:t>
            </a:r>
            <a:r>
              <a:rPr lang="es-ES" b="1" dirty="0" err="1"/>
              <a:t>model</a:t>
            </a:r>
            <a:endParaRPr lang="es-ES" b="1" dirty="0"/>
          </a:p>
          <a:p>
            <a:pPr marL="514350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es-ES" b="1" dirty="0" err="1"/>
              <a:t>Main</a:t>
            </a:r>
            <a:r>
              <a:rPr lang="es-ES" b="1" dirty="0"/>
              <a:t> </a:t>
            </a:r>
            <a:r>
              <a:rPr lang="es-ES" b="1" dirty="0" err="1"/>
              <a:t>Simulink</a:t>
            </a:r>
            <a:r>
              <a:rPr lang="es-ES" b="1" dirty="0"/>
              <a:t> </a:t>
            </a:r>
            <a:r>
              <a:rPr lang="es-ES" b="1" dirty="0" err="1"/>
              <a:t>model</a:t>
            </a:r>
            <a:endParaRPr lang="es-ES" b="1" dirty="0"/>
          </a:p>
          <a:p>
            <a:pPr marL="514350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es-ES" b="1" dirty="0" err="1"/>
              <a:t>Adding</a:t>
            </a:r>
            <a:r>
              <a:rPr lang="es-ES" b="1" dirty="0"/>
              <a:t> </a:t>
            </a:r>
            <a:r>
              <a:rPr lang="es-ES" b="1" dirty="0" err="1"/>
              <a:t>external</a:t>
            </a:r>
            <a:r>
              <a:rPr lang="es-ES" b="1" dirty="0"/>
              <a:t> </a:t>
            </a:r>
            <a:r>
              <a:rPr lang="es-ES" b="1" dirty="0" err="1"/>
              <a:t>disturbances</a:t>
            </a:r>
            <a:endParaRPr lang="es-ES" b="1" dirty="0"/>
          </a:p>
          <a:p>
            <a:pPr marL="514350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es-ES" b="1" dirty="0"/>
              <a:t>PID control</a:t>
            </a:r>
          </a:p>
          <a:p>
            <a:pPr marL="514350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es-ES" b="1" dirty="0"/>
              <a:t>PID </a:t>
            </a:r>
            <a:r>
              <a:rPr lang="es-ES" b="1" dirty="0" err="1"/>
              <a:t>controller</a:t>
            </a:r>
            <a:r>
              <a:rPr lang="es-ES" b="1" dirty="0"/>
              <a:t> </a:t>
            </a:r>
            <a:r>
              <a:rPr lang="es-ES" b="1" dirty="0" err="1"/>
              <a:t>Simulink</a:t>
            </a:r>
            <a:r>
              <a:rPr lang="es-ES" b="1" dirty="0"/>
              <a:t> </a:t>
            </a:r>
            <a:r>
              <a:rPr lang="es-ES" b="1" dirty="0" err="1"/>
              <a:t>implementation</a:t>
            </a:r>
            <a:endParaRPr lang="es-ES" b="1" dirty="0"/>
          </a:p>
          <a:p>
            <a:pPr marL="514350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es-ES" b="1" dirty="0"/>
              <a:t>PID </a:t>
            </a:r>
            <a:r>
              <a:rPr lang="es-ES" b="1" dirty="0" err="1"/>
              <a:t>tuning</a:t>
            </a:r>
            <a:endParaRPr lang="es-ES" b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DBA0D4-046D-4903-BD0F-514646AD151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2</a:t>
            </a:fld>
            <a:endParaRPr lang="es-ES"/>
          </a:p>
        </p:txBody>
      </p:sp>
      <p:sp>
        <p:nvSpPr>
          <p:cNvPr id="7" name="Título 2">
            <a:extLst>
              <a:ext uri="{FF2B5EF4-FFF2-40B4-BE49-F238E27FC236}">
                <a16:creationId xmlns:a16="http://schemas.microsoft.com/office/drawing/2014/main" id="{18CB0DAE-2F9D-4A0E-97EE-F41A1712A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01" y="775663"/>
            <a:ext cx="6515747" cy="585905"/>
          </a:xfrm>
        </p:spPr>
        <p:txBody>
          <a:bodyPr>
            <a:normAutofit fontScale="90000"/>
          </a:bodyPr>
          <a:lstStyle/>
          <a:p>
            <a:r>
              <a:rPr lang="es-ES" dirty="0" err="1"/>
              <a:t>Contents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45343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13284BF-C89B-4CDB-94DB-C59F079CE8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3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22DBF1-9AEA-43F1-892A-5C930C044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01" y="775663"/>
            <a:ext cx="6515747" cy="585905"/>
          </a:xfrm>
        </p:spPr>
        <p:txBody>
          <a:bodyPr/>
          <a:lstStyle/>
          <a:p>
            <a:r>
              <a:rPr lang="es-ES" dirty="0" err="1"/>
              <a:t>Introduction</a:t>
            </a:r>
            <a:endParaRPr lang="es-ES" dirty="0"/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97DDE4F4-D9F2-4A23-9F19-DB370BDFBC2C}"/>
              </a:ext>
            </a:extLst>
          </p:cNvPr>
          <p:cNvSpPr txBox="1">
            <a:spLocks/>
          </p:cNvSpPr>
          <p:nvPr/>
        </p:nvSpPr>
        <p:spPr>
          <a:xfrm>
            <a:off x="483824" y="1566904"/>
            <a:ext cx="4467738" cy="2552920"/>
          </a:xfrm>
          <a:prstGeom prst="rect">
            <a:avLst/>
          </a:prstGeom>
        </p:spPr>
        <p:txBody>
          <a:bodyPr vert="horz" lIns="0" tIns="38100" rIns="76200" bIns="38100" rtlCol="0">
            <a:normAutofit/>
          </a:bodyPr>
          <a:lstStyle>
            <a:lvl1pPr marL="0" indent="0" algn="l" defTabSz="109728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rgbClr val="FF3228"/>
              </a:buClr>
              <a:buFont typeface="Wingdings" panose="05000000000000000000" pitchFamily="2" charset="2"/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 marL="541338" indent="-269875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676766"/>
              </a:buClr>
              <a:buFont typeface="Wingdings" panose="05000000000000000000" pitchFamily="2" charset="2"/>
              <a:buChar char="§"/>
              <a:defRPr sz="220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goals of the sessions are:</a:t>
            </a: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n-US" sz="1600" dirty="0">
                <a:solidFill>
                  <a:schemeClr val="tx1"/>
                </a:solidFill>
              </a:rPr>
              <a:t>Understand 1-DoF rotational dynamics as a non-linear system of differential equation</a:t>
            </a: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n-US" sz="1600" dirty="0">
                <a:solidFill>
                  <a:schemeClr val="tx1"/>
                </a:solidFill>
              </a:rPr>
              <a:t>Set up a Simulink-based environment to simulate the rotational dynamics</a:t>
            </a: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n-US" sz="1600" dirty="0">
                <a:solidFill>
                  <a:schemeClr val="tx1"/>
                </a:solidFill>
              </a:rPr>
              <a:t>Generate a control input to modify the evolution of our dynamics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1CA7ED4-0817-DCC1-357F-A18ECEB8B584}"/>
              </a:ext>
            </a:extLst>
          </p:cNvPr>
          <p:cNvSpPr txBox="1">
            <a:spLocks/>
          </p:cNvSpPr>
          <p:nvPr/>
        </p:nvSpPr>
        <p:spPr>
          <a:xfrm>
            <a:off x="7392075" y="1566904"/>
            <a:ext cx="4209557" cy="2552920"/>
          </a:xfrm>
          <a:prstGeom prst="rect">
            <a:avLst/>
          </a:prstGeom>
        </p:spPr>
        <p:txBody>
          <a:bodyPr vert="horz" lIns="0" tIns="38100" rIns="76200" bIns="38100" rtlCol="0">
            <a:normAutofit/>
          </a:bodyPr>
          <a:lstStyle>
            <a:lvl1pPr marL="0" indent="0" algn="l" defTabSz="109728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rgbClr val="FF3228"/>
              </a:buClr>
              <a:buFont typeface="Wingdings" panose="05000000000000000000" pitchFamily="2" charset="2"/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 marL="541338" indent="-269875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676766"/>
              </a:buClr>
              <a:buFont typeface="Wingdings" panose="05000000000000000000" pitchFamily="2" charset="2"/>
              <a:buChar char="§"/>
              <a:defRPr sz="220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 achieve that, the steps we’ll follow are:</a:t>
            </a: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n-US" sz="1600" dirty="0">
                <a:solidFill>
                  <a:schemeClr val="tx1"/>
                </a:solidFill>
              </a:rPr>
              <a:t>Review applicable theory</a:t>
            </a: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n-US" sz="1600" dirty="0">
                <a:solidFill>
                  <a:schemeClr val="tx1"/>
                </a:solidFill>
              </a:rPr>
              <a:t>Build a Simulink model of the dynamics</a:t>
            </a: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n-US" sz="1600" dirty="0">
                <a:solidFill>
                  <a:schemeClr val="tx1"/>
                </a:solidFill>
              </a:rPr>
              <a:t>Linearize the system and generate a controller</a:t>
            </a: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n-US" sz="1600" dirty="0">
                <a:solidFill>
                  <a:schemeClr val="tx1"/>
                </a:solidFill>
              </a:rPr>
              <a:t>Visualize results</a:t>
            </a:r>
          </a:p>
        </p:txBody>
      </p:sp>
      <p:sp>
        <p:nvSpPr>
          <p:cNvPr id="10" name="Flecha derecha 9">
            <a:extLst>
              <a:ext uri="{FF2B5EF4-FFF2-40B4-BE49-F238E27FC236}">
                <a16:creationId xmlns:a16="http://schemas.microsoft.com/office/drawing/2014/main" id="{89083970-19C1-5427-94A9-77301CBD17C5}"/>
              </a:ext>
            </a:extLst>
          </p:cNvPr>
          <p:cNvSpPr/>
          <p:nvPr/>
        </p:nvSpPr>
        <p:spPr>
          <a:xfrm>
            <a:off x="5130351" y="2581360"/>
            <a:ext cx="2589451" cy="6716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4" descr="ESA - Recuperado el quinto satélite Galileo, que ya transmite señales de  navegación">
            <a:extLst>
              <a:ext uri="{FF2B5EF4-FFF2-40B4-BE49-F238E27FC236}">
                <a16:creationId xmlns:a16="http://schemas.microsoft.com/office/drawing/2014/main" id="{C0BBCBCC-F531-D308-20D3-283232FDA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2619" y="4200638"/>
            <a:ext cx="3877183" cy="2180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0941C3E1-0886-94BA-F263-686B0C0A5EC0}"/>
              </a:ext>
            </a:extLst>
          </p:cNvPr>
          <p:cNvSpPr txBox="1"/>
          <p:nvPr/>
        </p:nvSpPr>
        <p:spPr>
          <a:xfrm>
            <a:off x="8155979" y="5129513"/>
            <a:ext cx="1462117" cy="323165"/>
          </a:xfrm>
          <a:prstGeom prst="rect">
            <a:avLst/>
          </a:prstGeom>
          <a:noFill/>
          <a:ln w="19050">
            <a:solidFill>
              <a:srgbClr val="2B5B3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Galileo Satellite</a:t>
            </a:r>
            <a:endParaRPr 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1226290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93872-145C-AFFB-BBEB-BAAA7720F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783ADB9-EF88-48D9-389C-2A5AC0E0A8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1F4134C-79DA-A1E6-629E-347EBFA17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01" y="775663"/>
            <a:ext cx="6515747" cy="585905"/>
          </a:xfrm>
        </p:spPr>
        <p:txBody>
          <a:bodyPr/>
          <a:lstStyle/>
          <a:p>
            <a:r>
              <a:rPr lang="es-ES" dirty="0"/>
              <a:t>1-DoF </a:t>
            </a:r>
            <a:r>
              <a:rPr lang="es-ES" dirty="0" err="1"/>
              <a:t>rotational</a:t>
            </a:r>
            <a:r>
              <a:rPr lang="es-ES" dirty="0"/>
              <a:t> </a:t>
            </a:r>
            <a:r>
              <a:rPr lang="es-ES" dirty="0" err="1"/>
              <a:t>dynamics</a:t>
            </a:r>
            <a:endParaRPr lang="es-ES" dirty="0"/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E9475840-3378-2C0F-F3B0-B06AA7D705D9}"/>
              </a:ext>
            </a:extLst>
          </p:cNvPr>
          <p:cNvSpPr txBox="1">
            <a:spLocks/>
          </p:cNvSpPr>
          <p:nvPr/>
        </p:nvSpPr>
        <p:spPr>
          <a:xfrm>
            <a:off x="636224" y="4705990"/>
            <a:ext cx="10521344" cy="365126"/>
          </a:xfrm>
          <a:prstGeom prst="rect">
            <a:avLst/>
          </a:prstGeom>
        </p:spPr>
        <p:txBody>
          <a:bodyPr vert="horz" lIns="0" tIns="38100" rIns="76200" bIns="38100" rtlCol="0">
            <a:normAutofit/>
          </a:bodyPr>
          <a:lstStyle>
            <a:lvl1pPr marL="0" indent="0" algn="l" defTabSz="109728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rgbClr val="FF3228"/>
              </a:buClr>
              <a:buFont typeface="Wingdings" panose="05000000000000000000" pitchFamily="2" charset="2"/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 marL="541338" indent="-269875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676766"/>
              </a:buClr>
              <a:buFont typeface="Wingdings" panose="05000000000000000000" pitchFamily="2" charset="2"/>
              <a:buChar char="§"/>
              <a:defRPr sz="220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dynamics of the problem are modelled from conservation of angular momentum (Assuming no external torques):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5DFA8AC-7E44-C88C-6D25-2CE053F362B2}"/>
                  </a:ext>
                </a:extLst>
              </p:cNvPr>
              <p:cNvSpPr txBox="1"/>
              <p:nvPr/>
            </p:nvSpPr>
            <p:spPr>
              <a:xfrm>
                <a:off x="3947157" y="3597992"/>
                <a:ext cx="1614005" cy="11687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e>
                              <m:acc>
                                <m:accPr>
                                  <m:chr m:val="̇"/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eqArr>
                                    <m:eqArrPr>
                                      <m:ctrlP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𝑅𝑊</m:t>
                                          </m:r>
                                        </m:sub>
                                      </m:sSub>
                                    </m:e>
                                  </m:eqArr>
                                </m:e>
                              </m:acc>
                            </m:e>
                          </m:eqArr>
                        </m:e>
                      </m:d>
                    </m:oMath>
                  </m:oMathPara>
                </a14:m>
                <a:endParaRPr lang="es-ES" b="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5DFA8AC-7E44-C88C-6D25-2CE053F36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7157" y="3597992"/>
                <a:ext cx="1614005" cy="11687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60FFD215-9AF9-CA8F-917F-5DA8AA236CEC}"/>
                  </a:ext>
                </a:extLst>
              </p:cNvPr>
              <p:cNvSpPr txBox="1"/>
              <p:nvPr/>
            </p:nvSpPr>
            <p:spPr>
              <a:xfrm>
                <a:off x="6266370" y="3813019"/>
                <a:ext cx="13415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𝑅𝑊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60FFD215-9AF9-CA8F-917F-5DA8AA236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370" y="3813019"/>
                <a:ext cx="134158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Marcador de texto 4">
                <a:extLst>
                  <a:ext uri="{FF2B5EF4-FFF2-40B4-BE49-F238E27FC236}">
                    <a16:creationId xmlns:a16="http://schemas.microsoft.com/office/drawing/2014/main" id="{60BC7AEE-B0BC-503F-E9D6-2533DA4746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6224" y="1719304"/>
                <a:ext cx="10521344" cy="1947891"/>
              </a:xfrm>
              <a:prstGeom prst="rect">
                <a:avLst/>
              </a:prstGeom>
            </p:spPr>
            <p:txBody>
              <a:bodyPr vert="horz" lIns="0" tIns="38100" rIns="76200" bIns="38100" rtlCol="0">
                <a:normAutofit/>
              </a:bodyPr>
              <a:lstStyle>
                <a:lvl1pPr marL="0" indent="0" algn="l" defTabSz="109728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rgbClr val="FF3228"/>
                  </a:buClr>
                  <a:buFont typeface="Wingdings" panose="05000000000000000000" pitchFamily="2" charset="2"/>
                  <a:buNone/>
                  <a:defRPr lang="es-ES" sz="2400" b="1" kern="1200" dirty="0">
                    <a:solidFill>
                      <a:srgbClr val="1E1E1E"/>
                    </a:solidFill>
                    <a:latin typeface="Century Gothic" panose="020B0502020202020204" pitchFamily="34" charset="0"/>
                    <a:ea typeface="+mj-ea"/>
                    <a:cs typeface="+mj-cs"/>
                  </a:defRPr>
                </a:lvl1pPr>
                <a:lvl2pPr marL="541338" indent="-269875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rgbClr val="676766"/>
                  </a:buClr>
                  <a:buFont typeface="Wingdings" panose="05000000000000000000" pitchFamily="2" charset="2"/>
                  <a:buChar char="§"/>
                  <a:defRPr sz="2200" kern="1200">
                    <a:solidFill>
                      <a:srgbClr val="7D7878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2pPr>
                <a:lvl3pPr marL="137160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rgbClr val="1E1E1E"/>
                    </a:solidFill>
                    <a:latin typeface="+mn-lt"/>
                    <a:ea typeface="+mn-ea"/>
                    <a:cs typeface="+mn-cs"/>
                  </a:defRPr>
                </a:lvl3pPr>
                <a:lvl4pPr marL="192024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rgbClr val="1E1E1E"/>
                    </a:solidFill>
                    <a:latin typeface="+mn-lt"/>
                    <a:ea typeface="+mn-ea"/>
                    <a:cs typeface="+mn-cs"/>
                  </a:defRPr>
                </a:lvl4pPr>
                <a:lvl5pPr marL="246888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rgbClr val="1E1E1E"/>
                    </a:solidFill>
                    <a:latin typeface="+mn-lt"/>
                    <a:ea typeface="+mn-ea"/>
                    <a:cs typeface="+mn-cs"/>
                  </a:defRPr>
                </a:lvl5pPr>
                <a:lvl6pPr marL="301752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6616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11480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6344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58215" lvl="1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tx1"/>
                    </a:solidFill>
                  </a:rPr>
                  <a:t>For the session, we assume a 1 Degree of Freedom (</a:t>
                </a:r>
                <a:r>
                  <a:rPr lang="en-US" sz="1400" dirty="0" err="1">
                    <a:solidFill>
                      <a:schemeClr val="tx1"/>
                    </a:solidFill>
                  </a:rPr>
                  <a:t>DoF</a:t>
                </a:r>
                <a:r>
                  <a:rPr lang="en-US" sz="1400" dirty="0">
                    <a:solidFill>
                      <a:schemeClr val="tx1"/>
                    </a:solidFill>
                  </a:rPr>
                  <a:t>) axisymmetric satellite that can rotate around its main axis, with a reaction wheel as the only available actuator</a:t>
                </a:r>
              </a:p>
              <a:p>
                <a:pPr marL="358215" lvl="1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tx1"/>
                    </a:solidFill>
                  </a:rPr>
                  <a:t>The modelling of the system takes place in an inertial frame, assuming no external torques</a:t>
                </a:r>
              </a:p>
              <a:p>
                <a:pPr marL="358215" lvl="1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tx1"/>
                    </a:solidFill>
                  </a:rPr>
                  <a:t>The state vector contains the satellite’s orientation angle (</a:t>
                </a:r>
                <a14:m>
                  <m:oMath xmlns:m="http://schemas.openxmlformats.org/officeDocument/2006/math">
                    <m:r>
                      <a:rPr lang="es-E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), its time derivative (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s-E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acc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) and the reaction wheel’s velocity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s-E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𝑅𝑊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358215" lvl="1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tx1"/>
                    </a:solidFill>
                  </a:rPr>
                  <a:t>The control vector corresponds to the torque applied by the reaction wheel’s motor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𝑅𝑊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).</a:t>
                </a:r>
              </a:p>
              <a:p>
                <a:pPr marL="358215" lvl="1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Marcador de texto 4">
                <a:extLst>
                  <a:ext uri="{FF2B5EF4-FFF2-40B4-BE49-F238E27FC236}">
                    <a16:creationId xmlns:a16="http://schemas.microsoft.com/office/drawing/2014/main" id="{60BC7AEE-B0BC-503F-E9D6-2533DA474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224" y="1719304"/>
                <a:ext cx="10521344" cy="1947891"/>
              </a:xfrm>
              <a:prstGeom prst="rect">
                <a:avLst/>
              </a:prstGeom>
              <a:blipFill>
                <a:blip r:embed="rId4"/>
                <a:stretch>
                  <a:fillRect t="-1299" r="-3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FDD1E0F7-1563-0C49-DB59-06388BCFBCE4}"/>
                  </a:ext>
                </a:extLst>
              </p:cNvPr>
              <p:cNvSpPr txBox="1"/>
              <p:nvPr/>
            </p:nvSpPr>
            <p:spPr>
              <a:xfrm>
                <a:off x="636224" y="5221146"/>
                <a:ext cx="11414878" cy="9962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𝑅𝑊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acc>
                      <m:accPr>
                        <m:chr m:val="̇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acc>
                    <m:r>
                      <a:rPr lang="es-E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𝑅𝑊</m:t>
                        </m:r>
                      </m:sub>
                    </m:sSub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𝑅𝑊</m:t>
                        </m:r>
                      </m:sub>
                    </m:sSub>
                  </m:oMath>
                </a14:m>
                <a:r>
                  <a:rPr lang="es-ES" b="0" dirty="0"/>
                  <a:t> </a:t>
                </a:r>
                <a:r>
                  <a:rPr lang="es-ES" b="0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𝜕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𝐿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𝑠</m:t>
                            </m:r>
                          </m:sub>
                        </m:sSub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𝜕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𝑡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𝐽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𝑆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0</m:t>
                        </m:r>
                      </m:sub>
                    </m:sSub>
                    <m:acc>
                      <m:accPr>
                        <m:chr m:val="̈"/>
                        <m:ctrlPr>
                          <a:rPr lang="es-E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acc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𝜙</m:t>
                        </m:r>
                      </m:e>
                    </m:acc>
                    <m:r>
                      <a:rPr lang="es-E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+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𝐽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𝑅𝑊</m:t>
                        </m:r>
                      </m:sub>
                    </m:sSub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s-E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acc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𝜔</m:t>
                            </m:r>
                          </m:e>
                        </m:acc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𝑅𝑊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=0</m:t>
                    </m:r>
                  </m:oMath>
                </a14:m>
                <a:r>
                  <a:rPr lang="es-ES" b="0" dirty="0">
                    <a:sym typeface="Wingdings" pitchFamily="2" charset="2"/>
                  </a:rPr>
                  <a:t> 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s-E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accPr>
                      <m:e>
                        <m:r>
                          <a:rPr lang="es-E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𝜙</m:t>
                        </m:r>
                      </m:e>
                    </m:acc>
                    <m:r>
                      <a:rPr lang="es-E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𝐽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𝑆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0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𝐽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𝑅𝑊</m:t>
                            </m:r>
                          </m:sub>
                        </m:sSub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</m:ctrlPr>
                              </m:acc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  <m:t>𝜔</m:t>
                                </m:r>
                              </m:e>
                            </m:acc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𝑅𝑊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𝐽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𝑅𝑊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𝐽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𝑅𝑊</m:t>
                            </m:r>
                          </m:sub>
                        </m:sSub>
                        <m:f>
                          <m:f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  <m:t>𝑅𝑊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  <m:t>𝑅𝑊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r>
                      <a:rPr lang="es-E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−</m:t>
                    </m:r>
                    <m:f>
                      <m:fPr>
                        <m:ctrlPr>
                          <a:rPr lang="es-E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𝑀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𝑅𝑊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E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𝐽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𝑆</m:t>
                            </m:r>
                            <m:r>
                              <a:rPr lang="es-E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s-ES" b="0" dirty="0">
                    <a:sym typeface="Wingdings" pitchFamily="2" charset="2"/>
                  </a:rPr>
                  <a:t> </a:t>
                </a:r>
              </a:p>
              <a:p>
                <a:endParaRPr lang="es-ES" b="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FDD1E0F7-1563-0C49-DB59-06388BCFB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224" y="5221146"/>
                <a:ext cx="11414878" cy="996235"/>
              </a:xfrm>
              <a:prstGeom prst="rect">
                <a:avLst/>
              </a:prstGeom>
              <a:blipFill>
                <a:blip r:embed="rId5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4728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65E28-8B2C-69C6-7FBC-B28286E45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CAD8AFF-6BA7-DB06-1621-9AFC17AD97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8F34C22-350B-B210-C69A-D3847D5E8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01" y="775663"/>
            <a:ext cx="6515747" cy="585905"/>
          </a:xfrm>
        </p:spPr>
        <p:txBody>
          <a:bodyPr/>
          <a:lstStyle/>
          <a:p>
            <a:r>
              <a:rPr lang="es-ES" dirty="0"/>
              <a:t>1-DoF </a:t>
            </a:r>
            <a:r>
              <a:rPr lang="es-ES" dirty="0" err="1"/>
              <a:t>rotational</a:t>
            </a:r>
            <a:r>
              <a:rPr lang="es-ES" dirty="0"/>
              <a:t> </a:t>
            </a:r>
            <a:r>
              <a:rPr lang="es-ES" dirty="0" err="1"/>
              <a:t>dynamics</a:t>
            </a:r>
            <a:r>
              <a:rPr lang="es-ES" dirty="0"/>
              <a:t>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929F22F-02B4-2568-64DC-5318865D323A}"/>
                  </a:ext>
                </a:extLst>
              </p:cNvPr>
              <p:cNvSpPr txBox="1"/>
              <p:nvPr/>
            </p:nvSpPr>
            <p:spPr>
              <a:xfrm>
                <a:off x="4105022" y="2216989"/>
                <a:ext cx="3981956" cy="177446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⃗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acc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̇"/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̈"/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acc>
                            </m:e>
                            <m:e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𝑅𝑊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eqArr>
                                <m:eqArr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𝑅𝑊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  <m:e>
                                  <m:f>
                                    <m:fPr>
                                      <m:ctrlP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𝑅𝑊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𝑅𝑊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eqArr>
                            </m:e>
                          </m:acc>
                        </m:e>
                      </m:d>
                    </m:oMath>
                  </m:oMathPara>
                </a14:m>
                <a:endParaRPr lang="es-ES" b="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929F22F-02B4-2568-64DC-5318865D3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022" y="2216989"/>
                <a:ext cx="3981956" cy="1774460"/>
              </a:xfrm>
              <a:prstGeom prst="rect">
                <a:avLst/>
              </a:prstGeom>
              <a:blipFill>
                <a:blip r:embed="rId2"/>
                <a:stretch>
                  <a:fillRect t="-14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Marcador de texto 4">
            <a:extLst>
              <a:ext uri="{FF2B5EF4-FFF2-40B4-BE49-F238E27FC236}">
                <a16:creationId xmlns:a16="http://schemas.microsoft.com/office/drawing/2014/main" id="{FCD46D08-75D0-C07F-1C3C-869F451DE4AF}"/>
              </a:ext>
            </a:extLst>
          </p:cNvPr>
          <p:cNvSpPr txBox="1">
            <a:spLocks/>
          </p:cNvSpPr>
          <p:nvPr/>
        </p:nvSpPr>
        <p:spPr>
          <a:xfrm>
            <a:off x="636224" y="1719304"/>
            <a:ext cx="10521344" cy="497685"/>
          </a:xfrm>
          <a:prstGeom prst="rect">
            <a:avLst/>
          </a:prstGeom>
        </p:spPr>
        <p:txBody>
          <a:bodyPr vert="horz" lIns="0" tIns="38100" rIns="76200" bIns="38100" rtlCol="0">
            <a:normAutofit/>
          </a:bodyPr>
          <a:lstStyle>
            <a:lvl1pPr marL="0" indent="0" algn="l" defTabSz="109728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rgbClr val="FF3228"/>
              </a:buClr>
              <a:buFont typeface="Wingdings" panose="05000000000000000000" pitchFamily="2" charset="2"/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 marL="541338" indent="-269875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676766"/>
              </a:buClr>
              <a:buFont typeface="Wingdings" panose="05000000000000000000" pitchFamily="2" charset="2"/>
              <a:buChar char="§"/>
              <a:defRPr sz="220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tx1"/>
                </a:solidFill>
              </a:rPr>
              <a:t>So, </a:t>
            </a:r>
            <a:r>
              <a:rPr lang="es-ES" sz="1400" dirty="0" err="1">
                <a:solidFill>
                  <a:schemeClr val="tx1"/>
                </a:solidFill>
              </a:rPr>
              <a:t>we</a:t>
            </a:r>
            <a:r>
              <a:rPr lang="es-ES" sz="1400" dirty="0">
                <a:solidFill>
                  <a:schemeClr val="tx1"/>
                </a:solidFill>
              </a:rPr>
              <a:t> can </a:t>
            </a:r>
            <a:r>
              <a:rPr lang="es-ES" sz="1400" dirty="0" err="1">
                <a:solidFill>
                  <a:schemeClr val="tx1"/>
                </a:solidFill>
              </a:rPr>
              <a:t>formulate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our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system</a:t>
            </a:r>
            <a:r>
              <a:rPr lang="es-ES" sz="1400" dirty="0">
                <a:solidFill>
                  <a:schemeClr val="tx1"/>
                </a:solidFill>
              </a:rPr>
              <a:t> as:</a:t>
            </a:r>
            <a:endParaRPr lang="en-US" sz="1400" dirty="0">
              <a:solidFill>
                <a:schemeClr val="tx1"/>
              </a:solidFill>
            </a:endParaRP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Marcador de texto 4">
                <a:extLst>
                  <a:ext uri="{FF2B5EF4-FFF2-40B4-BE49-F238E27FC236}">
                    <a16:creationId xmlns:a16="http://schemas.microsoft.com/office/drawing/2014/main" id="{FE406A1E-BAD6-E53E-7325-43AF20D722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6224" y="4037827"/>
                <a:ext cx="10521344" cy="2242203"/>
              </a:xfrm>
              <a:prstGeom prst="rect">
                <a:avLst/>
              </a:prstGeom>
            </p:spPr>
            <p:txBody>
              <a:bodyPr vert="horz" lIns="0" tIns="38100" rIns="76200" bIns="38100" rtlCol="0">
                <a:normAutofit/>
              </a:bodyPr>
              <a:lstStyle>
                <a:lvl1pPr marL="0" indent="0" algn="l" defTabSz="109728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rgbClr val="FF3228"/>
                  </a:buClr>
                  <a:buFont typeface="Wingdings" panose="05000000000000000000" pitchFamily="2" charset="2"/>
                  <a:buNone/>
                  <a:defRPr lang="es-ES" sz="2400" b="1" kern="1200" dirty="0">
                    <a:solidFill>
                      <a:srgbClr val="1E1E1E"/>
                    </a:solidFill>
                    <a:latin typeface="Century Gothic" panose="020B0502020202020204" pitchFamily="34" charset="0"/>
                    <a:ea typeface="+mj-ea"/>
                    <a:cs typeface="+mj-cs"/>
                  </a:defRPr>
                </a:lvl1pPr>
                <a:lvl2pPr marL="541338" indent="-269875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rgbClr val="676766"/>
                  </a:buClr>
                  <a:buFont typeface="Wingdings" panose="05000000000000000000" pitchFamily="2" charset="2"/>
                  <a:buChar char="§"/>
                  <a:defRPr sz="2200" kern="1200">
                    <a:solidFill>
                      <a:srgbClr val="7D7878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2pPr>
                <a:lvl3pPr marL="137160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rgbClr val="1E1E1E"/>
                    </a:solidFill>
                    <a:latin typeface="+mn-lt"/>
                    <a:ea typeface="+mn-ea"/>
                    <a:cs typeface="+mn-cs"/>
                  </a:defRPr>
                </a:lvl3pPr>
                <a:lvl4pPr marL="192024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rgbClr val="1E1E1E"/>
                    </a:solidFill>
                    <a:latin typeface="+mn-lt"/>
                    <a:ea typeface="+mn-ea"/>
                    <a:cs typeface="+mn-cs"/>
                  </a:defRPr>
                </a:lvl4pPr>
                <a:lvl5pPr marL="246888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rgbClr val="1E1E1E"/>
                    </a:solidFill>
                    <a:latin typeface="+mn-lt"/>
                    <a:ea typeface="+mn-ea"/>
                    <a:cs typeface="+mn-cs"/>
                  </a:defRPr>
                </a:lvl5pPr>
                <a:lvl6pPr marL="301752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6616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11480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6344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58215" lvl="1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s-ES" sz="1400" dirty="0">
                    <a:solidFill>
                      <a:schemeClr val="tx1"/>
                    </a:solidFill>
                  </a:rPr>
                  <a:t>This </a:t>
                </a:r>
                <a:r>
                  <a:rPr lang="es-ES" sz="1400" dirty="0" err="1">
                    <a:solidFill>
                      <a:schemeClr val="tx1"/>
                    </a:solidFill>
                  </a:rPr>
                  <a:t>way</a:t>
                </a:r>
                <a:r>
                  <a:rPr lang="es-ES" sz="1400" dirty="0">
                    <a:solidFill>
                      <a:schemeClr val="tx1"/>
                    </a:solidFill>
                  </a:rPr>
                  <a:t>, </a:t>
                </a:r>
                <a:r>
                  <a:rPr lang="es-ES" sz="1400" dirty="0" err="1">
                    <a:solidFill>
                      <a:schemeClr val="tx1"/>
                    </a:solidFill>
                  </a:rPr>
                  <a:t>we</a:t>
                </a:r>
                <a:r>
                  <a:rPr lang="es-ES" sz="1400" dirty="0">
                    <a:solidFill>
                      <a:schemeClr val="tx1"/>
                    </a:solidFill>
                  </a:rPr>
                  <a:t> can </a:t>
                </a:r>
                <a:r>
                  <a:rPr lang="es-ES" sz="1400" dirty="0" err="1">
                    <a:solidFill>
                      <a:schemeClr val="tx1"/>
                    </a:solidFill>
                  </a:rPr>
                  <a:t>express</a:t>
                </a:r>
                <a:r>
                  <a:rPr lang="es-ES" sz="1400" dirty="0">
                    <a:solidFill>
                      <a:schemeClr val="tx1"/>
                    </a:solidFill>
                  </a:rPr>
                  <a:t> </a:t>
                </a:r>
                <a:r>
                  <a:rPr lang="es-ES" sz="1400" dirty="0" err="1">
                    <a:solidFill>
                      <a:schemeClr val="tx1"/>
                    </a:solidFill>
                  </a:rPr>
                  <a:t>the</a:t>
                </a:r>
                <a:r>
                  <a:rPr lang="es-ES" sz="1400" dirty="0">
                    <a:solidFill>
                      <a:schemeClr val="tx1"/>
                    </a:solidFill>
                  </a:rPr>
                  <a:t> </a:t>
                </a:r>
                <a:r>
                  <a:rPr lang="es-ES" sz="1400" dirty="0" err="1">
                    <a:solidFill>
                      <a:schemeClr val="tx1"/>
                    </a:solidFill>
                  </a:rPr>
                  <a:t>evolution</a:t>
                </a:r>
                <a:r>
                  <a:rPr lang="es-ES" sz="1400" dirty="0">
                    <a:solidFill>
                      <a:schemeClr val="tx1"/>
                    </a:solidFill>
                  </a:rPr>
                  <a:t> </a:t>
                </a:r>
                <a:r>
                  <a:rPr lang="es-ES" sz="1400" dirty="0" err="1">
                    <a:solidFill>
                      <a:schemeClr val="tx1"/>
                    </a:solidFill>
                  </a:rPr>
                  <a:t>of</a:t>
                </a:r>
                <a:r>
                  <a:rPr lang="es-ES" sz="1400" dirty="0">
                    <a:solidFill>
                      <a:schemeClr val="tx1"/>
                    </a:solidFill>
                  </a:rPr>
                  <a:t> </a:t>
                </a:r>
                <a:r>
                  <a:rPr lang="es-ES" sz="1400" dirty="0" err="1">
                    <a:solidFill>
                      <a:schemeClr val="tx1"/>
                    </a:solidFill>
                  </a:rPr>
                  <a:t>our</a:t>
                </a:r>
                <a:r>
                  <a:rPr lang="es-ES" sz="1400" dirty="0">
                    <a:solidFill>
                      <a:schemeClr val="tx1"/>
                    </a:solidFill>
                  </a:rPr>
                  <a:t> </a:t>
                </a:r>
                <a:r>
                  <a:rPr lang="es-ES" sz="1400" dirty="0" err="1">
                    <a:solidFill>
                      <a:schemeClr val="tx1"/>
                    </a:solidFill>
                  </a:rPr>
                  <a:t>system</a:t>
                </a:r>
                <a:r>
                  <a:rPr lang="es-ES" sz="1400" dirty="0">
                    <a:solidFill>
                      <a:schemeClr val="tx1"/>
                    </a:solidFill>
                  </a:rPr>
                  <a:t> in </a:t>
                </a:r>
                <a:r>
                  <a:rPr lang="es-ES" sz="1400" dirty="0" err="1">
                    <a:solidFill>
                      <a:schemeClr val="tx1"/>
                    </a:solidFill>
                  </a:rPr>
                  <a:t>terms</a:t>
                </a:r>
                <a:r>
                  <a:rPr lang="es-ES" sz="1400" dirty="0">
                    <a:solidFill>
                      <a:schemeClr val="tx1"/>
                    </a:solidFill>
                  </a:rPr>
                  <a:t> </a:t>
                </a:r>
                <a:r>
                  <a:rPr lang="es-ES" sz="1400" dirty="0" err="1">
                    <a:solidFill>
                      <a:schemeClr val="tx1"/>
                    </a:solidFill>
                  </a:rPr>
                  <a:t>of</a:t>
                </a:r>
                <a:r>
                  <a:rPr lang="es-ES" sz="1400" dirty="0">
                    <a:solidFill>
                      <a:schemeClr val="tx1"/>
                    </a:solidFill>
                  </a:rPr>
                  <a:t> </a:t>
                </a:r>
                <a:r>
                  <a:rPr lang="es-ES" sz="1400" dirty="0" err="1">
                    <a:solidFill>
                      <a:schemeClr val="tx1"/>
                    </a:solidFill>
                  </a:rPr>
                  <a:t>the</a:t>
                </a:r>
                <a:r>
                  <a:rPr lang="es-ES" sz="1400" dirty="0">
                    <a:solidFill>
                      <a:schemeClr val="tx1"/>
                    </a:solidFill>
                  </a:rPr>
                  <a:t> </a:t>
                </a:r>
                <a:r>
                  <a:rPr lang="es-ES" sz="1400" dirty="0" err="1">
                    <a:solidFill>
                      <a:schemeClr val="tx1"/>
                    </a:solidFill>
                  </a:rPr>
                  <a:t>state</a:t>
                </a:r>
                <a:r>
                  <a:rPr lang="es-ES" sz="1400" dirty="0">
                    <a:solidFill>
                      <a:schemeClr val="tx1"/>
                    </a:solidFill>
                  </a:rPr>
                  <a:t> variables, control inputs, and </a:t>
                </a:r>
                <a:r>
                  <a:rPr lang="es-ES" sz="1400" dirty="0" err="1">
                    <a:solidFill>
                      <a:schemeClr val="tx1"/>
                    </a:solidFill>
                  </a:rPr>
                  <a:t>the</a:t>
                </a:r>
                <a:r>
                  <a:rPr lang="es-ES" sz="1400" dirty="0">
                    <a:solidFill>
                      <a:schemeClr val="tx1"/>
                    </a:solidFill>
                  </a:rPr>
                  <a:t> </a:t>
                </a:r>
                <a:r>
                  <a:rPr lang="es-ES" sz="1400" dirty="0" err="1">
                    <a:solidFill>
                      <a:schemeClr val="tx1"/>
                    </a:solidFill>
                  </a:rPr>
                  <a:t>system</a:t>
                </a:r>
                <a:r>
                  <a:rPr lang="es-ES" sz="1400" dirty="0">
                    <a:solidFill>
                      <a:schemeClr val="tx1"/>
                    </a:solidFill>
                  </a:rPr>
                  <a:t> </a:t>
                </a:r>
                <a:r>
                  <a:rPr lang="es-ES" sz="1400" dirty="0" err="1">
                    <a:solidFill>
                      <a:schemeClr val="tx1"/>
                    </a:solidFill>
                  </a:rPr>
                  <a:t>parameters</a:t>
                </a:r>
                <a:r>
                  <a:rPr lang="es-ES" sz="1400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1188477" lvl="2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is the inertia moment of the satellite without the reaction wheel (assume an isotropic prism)</a:t>
                </a:r>
              </a:p>
              <a:p>
                <a:pPr marL="1188477" lvl="2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𝑅𝑊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is the inertia moment of the reaction wheel (assume an isotropic disk)</a:t>
                </a:r>
              </a:p>
              <a:p>
                <a:pPr marL="358215" lvl="1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Marcador de texto 4">
                <a:extLst>
                  <a:ext uri="{FF2B5EF4-FFF2-40B4-BE49-F238E27FC236}">
                    <a16:creationId xmlns:a16="http://schemas.microsoft.com/office/drawing/2014/main" id="{FE406A1E-BAD6-E53E-7325-43AF20D72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224" y="4037827"/>
                <a:ext cx="10521344" cy="2242203"/>
              </a:xfrm>
              <a:prstGeom prst="rect">
                <a:avLst/>
              </a:prstGeom>
              <a:blipFill>
                <a:blip r:embed="rId3"/>
                <a:stretch>
                  <a:fillRect t="-562" r="-3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3957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F0E35-BD62-AD05-EC9C-397B15F4F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A12FAEB5-924B-0827-69F3-E6AA0F994C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6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AEAE05D-049A-6C6E-A30C-CEFCE2FA1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01" y="775663"/>
            <a:ext cx="6515747" cy="585905"/>
          </a:xfrm>
        </p:spPr>
        <p:txBody>
          <a:bodyPr/>
          <a:lstStyle/>
          <a:p>
            <a:r>
              <a:rPr lang="es-ES" dirty="0"/>
              <a:t>Dynamics block </a:t>
            </a:r>
            <a:r>
              <a:rPr lang="es-ES" dirty="0" err="1"/>
              <a:t>creation</a:t>
            </a:r>
            <a:endParaRPr lang="es-ES" dirty="0"/>
          </a:p>
        </p:txBody>
      </p:sp>
      <p:sp>
        <p:nvSpPr>
          <p:cNvPr id="9" name="Marcador de texto 4">
            <a:extLst>
              <a:ext uri="{FF2B5EF4-FFF2-40B4-BE49-F238E27FC236}">
                <a16:creationId xmlns:a16="http://schemas.microsoft.com/office/drawing/2014/main" id="{BBE4CFD2-83EB-A39B-D33E-AB99564DCAA7}"/>
              </a:ext>
            </a:extLst>
          </p:cNvPr>
          <p:cNvSpPr txBox="1">
            <a:spLocks/>
          </p:cNvSpPr>
          <p:nvPr/>
        </p:nvSpPr>
        <p:spPr>
          <a:xfrm>
            <a:off x="636224" y="1719304"/>
            <a:ext cx="10521344" cy="497685"/>
          </a:xfrm>
          <a:prstGeom prst="rect">
            <a:avLst/>
          </a:prstGeom>
        </p:spPr>
        <p:txBody>
          <a:bodyPr vert="horz" lIns="0" tIns="38100" rIns="76200" bIns="38100" rtlCol="0">
            <a:normAutofit/>
          </a:bodyPr>
          <a:lstStyle>
            <a:lvl1pPr marL="0" indent="0" algn="l" defTabSz="109728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rgbClr val="FF3228"/>
              </a:buClr>
              <a:buFont typeface="Wingdings" panose="05000000000000000000" pitchFamily="2" charset="2"/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 marL="541338" indent="-269875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676766"/>
              </a:buClr>
              <a:buFont typeface="Wingdings" panose="05000000000000000000" pitchFamily="2" charset="2"/>
              <a:buChar char="§"/>
              <a:defRPr sz="220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ES" sz="1400" dirty="0" err="1">
                <a:solidFill>
                  <a:schemeClr val="tx1"/>
                </a:solidFill>
              </a:rPr>
              <a:t>First</a:t>
            </a:r>
            <a:r>
              <a:rPr lang="es-ES" sz="1400" dirty="0">
                <a:solidFill>
                  <a:schemeClr val="tx1"/>
                </a:solidFill>
              </a:rPr>
              <a:t>, </a:t>
            </a:r>
            <a:r>
              <a:rPr lang="es-ES" sz="1400" dirty="0" err="1">
                <a:solidFill>
                  <a:schemeClr val="tx1"/>
                </a:solidFill>
              </a:rPr>
              <a:t>launch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Simulink</a:t>
            </a:r>
            <a:r>
              <a:rPr lang="es-ES" sz="1400" dirty="0">
                <a:solidFill>
                  <a:schemeClr val="tx1"/>
                </a:solidFill>
              </a:rPr>
              <a:t> and </a:t>
            </a:r>
            <a:r>
              <a:rPr lang="es-ES" sz="1400" dirty="0" err="1">
                <a:solidFill>
                  <a:schemeClr val="tx1"/>
                </a:solidFill>
              </a:rPr>
              <a:t>create</a:t>
            </a:r>
            <a:r>
              <a:rPr lang="es-ES" sz="1400" dirty="0">
                <a:solidFill>
                  <a:schemeClr val="tx1"/>
                </a:solidFill>
              </a:rPr>
              <a:t> a </a:t>
            </a:r>
            <a:r>
              <a:rPr lang="es-ES" sz="1400" dirty="0" err="1">
                <a:solidFill>
                  <a:schemeClr val="tx1"/>
                </a:solidFill>
              </a:rPr>
              <a:t>blank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subsystem</a:t>
            </a:r>
            <a:r>
              <a:rPr lang="es-ES" sz="1400" dirty="0">
                <a:solidFill>
                  <a:schemeClr val="tx1"/>
                </a:solidFill>
              </a:rPr>
              <a:t>:</a:t>
            </a:r>
            <a:endParaRPr lang="en-US" sz="1400" dirty="0">
              <a:solidFill>
                <a:schemeClr val="tx1"/>
              </a:solidFill>
            </a:endParaRP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F8C2C8F4-D4B1-8DF3-F0F2-4772EE934623}"/>
              </a:ext>
            </a:extLst>
          </p:cNvPr>
          <p:cNvSpPr txBox="1">
            <a:spLocks/>
          </p:cNvSpPr>
          <p:nvPr/>
        </p:nvSpPr>
        <p:spPr>
          <a:xfrm>
            <a:off x="636224" y="3730594"/>
            <a:ext cx="4116931" cy="2242203"/>
          </a:xfrm>
          <a:prstGeom prst="rect">
            <a:avLst/>
          </a:prstGeom>
        </p:spPr>
        <p:txBody>
          <a:bodyPr vert="horz" lIns="0" tIns="38100" rIns="76200" bIns="38100" rtlCol="0">
            <a:normAutofit/>
          </a:bodyPr>
          <a:lstStyle>
            <a:lvl1pPr marL="0" indent="0" algn="l" defTabSz="109728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rgbClr val="FF3228"/>
              </a:buClr>
              <a:buFont typeface="Wingdings" panose="05000000000000000000" pitchFamily="2" charset="2"/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 marL="541338" indent="-269875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676766"/>
              </a:buClr>
              <a:buFont typeface="Wingdings" panose="05000000000000000000" pitchFamily="2" charset="2"/>
              <a:buChar char="§"/>
              <a:defRPr sz="220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tx1"/>
                </a:solidFill>
              </a:rPr>
              <a:t>Then, </a:t>
            </a:r>
            <a:r>
              <a:rPr lang="es-ES" sz="1400" dirty="0" err="1">
                <a:solidFill>
                  <a:schemeClr val="tx1"/>
                </a:solidFill>
              </a:rPr>
              <a:t>add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two</a:t>
            </a:r>
            <a:r>
              <a:rPr lang="es-ES" sz="1400" dirty="0">
                <a:solidFill>
                  <a:schemeClr val="tx1"/>
                </a:solidFill>
              </a:rPr>
              <a:t> inputs and </a:t>
            </a:r>
            <a:r>
              <a:rPr lang="es-ES" sz="1400" dirty="0" err="1">
                <a:solidFill>
                  <a:schemeClr val="tx1"/>
                </a:solidFill>
              </a:rPr>
              <a:t>one</a:t>
            </a:r>
            <a:r>
              <a:rPr lang="es-ES" sz="1400" dirty="0">
                <a:solidFill>
                  <a:schemeClr val="tx1"/>
                </a:solidFill>
              </a:rPr>
              <a:t> output:</a:t>
            </a: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n-US" sz="1600" i="1" dirty="0" err="1">
                <a:solidFill>
                  <a:schemeClr val="tx1"/>
                </a:solidFill>
              </a:rPr>
              <a:t>x_in</a:t>
            </a:r>
            <a:r>
              <a:rPr lang="en-US" sz="1600" dirty="0">
                <a:solidFill>
                  <a:schemeClr val="tx1"/>
                </a:solidFill>
              </a:rPr>
              <a:t> for the state vector</a:t>
            </a:r>
            <a:endParaRPr lang="en-US" sz="1600" i="1" dirty="0">
              <a:solidFill>
                <a:schemeClr val="tx1"/>
              </a:solidFill>
            </a:endParaRP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n-US" sz="1600" i="1" dirty="0" err="1">
                <a:solidFill>
                  <a:schemeClr val="tx1"/>
                </a:solidFill>
              </a:rPr>
              <a:t>u_in</a:t>
            </a:r>
            <a:r>
              <a:rPr lang="en-US" sz="1600" dirty="0">
                <a:solidFill>
                  <a:schemeClr val="tx1"/>
                </a:solidFill>
              </a:rPr>
              <a:t> for the control input</a:t>
            </a: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n-US" sz="1600" i="1" dirty="0" err="1">
                <a:solidFill>
                  <a:schemeClr val="tx1"/>
                </a:solidFill>
              </a:rPr>
              <a:t>x_out</a:t>
            </a:r>
            <a:r>
              <a:rPr lang="en-US" sz="1600" dirty="0">
                <a:solidFill>
                  <a:schemeClr val="tx1"/>
                </a:solidFill>
              </a:rPr>
              <a:t> for the state vector output</a:t>
            </a:r>
            <a:endParaRPr lang="en-US" sz="1600" i="1" dirty="0">
              <a:solidFill>
                <a:schemeClr val="tx1"/>
              </a:solidFill>
            </a:endParaRP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Save the file before proceeding to next steps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1EA9AA7-F1E8-EA8B-BFE5-814059BBA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74" y="2269565"/>
            <a:ext cx="7772400" cy="1066125"/>
          </a:xfrm>
          <a:prstGeom prst="rect">
            <a:avLst/>
          </a:prstGeom>
        </p:spPr>
      </p:pic>
      <p:sp>
        <p:nvSpPr>
          <p:cNvPr id="11" name="Flecha derecha 10">
            <a:extLst>
              <a:ext uri="{FF2B5EF4-FFF2-40B4-BE49-F238E27FC236}">
                <a16:creationId xmlns:a16="http://schemas.microsoft.com/office/drawing/2014/main" id="{50660F3B-40B9-6BEB-D85C-18BE5F1B6774}"/>
              </a:ext>
            </a:extLst>
          </p:cNvPr>
          <p:cNvSpPr/>
          <p:nvPr/>
        </p:nvSpPr>
        <p:spPr>
          <a:xfrm rot="1215938">
            <a:off x="5570386" y="2128698"/>
            <a:ext cx="1731588" cy="3719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C4ACAFD-A968-B5AA-4FAC-6CD30F5A8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226" y="1819517"/>
            <a:ext cx="3213100" cy="1905000"/>
          </a:xfrm>
          <a:prstGeom prst="rect">
            <a:avLst/>
          </a:prstGeom>
        </p:spPr>
      </p:pic>
      <p:sp>
        <p:nvSpPr>
          <p:cNvPr id="13" name="Flecha derecha 12">
            <a:extLst>
              <a:ext uri="{FF2B5EF4-FFF2-40B4-BE49-F238E27FC236}">
                <a16:creationId xmlns:a16="http://schemas.microsoft.com/office/drawing/2014/main" id="{895AC023-3C07-6652-E6CE-7807DF2E59B3}"/>
              </a:ext>
            </a:extLst>
          </p:cNvPr>
          <p:cNvSpPr/>
          <p:nvPr/>
        </p:nvSpPr>
        <p:spPr>
          <a:xfrm>
            <a:off x="8218374" y="2722127"/>
            <a:ext cx="398253" cy="16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3ACBDCE-7E9F-F68F-8952-58F6CC6E6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0583" y="3851746"/>
            <a:ext cx="3007088" cy="144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912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770E3-024D-AFFA-F278-8450D54F5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96ED2008-592C-A2E0-A27A-C21503EE91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7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9653C9B-12E0-9640-0AE8-DEABB5148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01" y="775663"/>
            <a:ext cx="6515747" cy="585905"/>
          </a:xfrm>
        </p:spPr>
        <p:txBody>
          <a:bodyPr/>
          <a:lstStyle/>
          <a:p>
            <a:r>
              <a:rPr lang="es-ES" dirty="0"/>
              <a:t>Dynamics block </a:t>
            </a:r>
            <a:r>
              <a:rPr lang="es-ES" dirty="0" err="1"/>
              <a:t>creation</a:t>
            </a:r>
            <a:r>
              <a:rPr lang="es-ES" dirty="0"/>
              <a:t> II</a:t>
            </a:r>
          </a:p>
        </p:txBody>
      </p:sp>
      <p:sp>
        <p:nvSpPr>
          <p:cNvPr id="9" name="Marcador de texto 4">
            <a:extLst>
              <a:ext uri="{FF2B5EF4-FFF2-40B4-BE49-F238E27FC236}">
                <a16:creationId xmlns:a16="http://schemas.microsoft.com/office/drawing/2014/main" id="{58C4E76D-26F6-4013-CA7B-5EFFE2B1E396}"/>
              </a:ext>
            </a:extLst>
          </p:cNvPr>
          <p:cNvSpPr txBox="1">
            <a:spLocks/>
          </p:cNvSpPr>
          <p:nvPr/>
        </p:nvSpPr>
        <p:spPr>
          <a:xfrm>
            <a:off x="636224" y="1719303"/>
            <a:ext cx="10521344" cy="1998681"/>
          </a:xfrm>
          <a:prstGeom prst="rect">
            <a:avLst/>
          </a:prstGeom>
        </p:spPr>
        <p:txBody>
          <a:bodyPr vert="horz" lIns="0" tIns="38100" rIns="76200" bIns="38100" rtlCol="0">
            <a:normAutofit fontScale="85000" lnSpcReduction="20000"/>
          </a:bodyPr>
          <a:lstStyle>
            <a:lvl1pPr marL="0" indent="0" algn="l" defTabSz="109728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rgbClr val="FF3228"/>
              </a:buClr>
              <a:buFont typeface="Wingdings" panose="05000000000000000000" pitchFamily="2" charset="2"/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 marL="541338" indent="-269875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676766"/>
              </a:buClr>
              <a:buFont typeface="Wingdings" panose="05000000000000000000" pitchFamily="2" charset="2"/>
              <a:buChar char="§"/>
              <a:defRPr sz="220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ES" sz="1400" dirty="0" err="1">
                <a:solidFill>
                  <a:schemeClr val="tx1"/>
                </a:solidFill>
              </a:rPr>
              <a:t>Create</a:t>
            </a:r>
            <a:r>
              <a:rPr lang="es-ES" sz="1400" dirty="0">
                <a:solidFill>
                  <a:schemeClr val="tx1"/>
                </a:solidFill>
              </a:rPr>
              <a:t> a </a:t>
            </a:r>
            <a:r>
              <a:rPr lang="es-ES" sz="1400" dirty="0" err="1">
                <a:solidFill>
                  <a:schemeClr val="tx1"/>
                </a:solidFill>
              </a:rPr>
              <a:t>system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mask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for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dynamics</a:t>
            </a:r>
            <a:r>
              <a:rPr lang="es-ES" sz="1400" dirty="0">
                <a:solidFill>
                  <a:schemeClr val="tx1"/>
                </a:solidFill>
              </a:rPr>
              <a:t> block (</a:t>
            </a:r>
            <a:r>
              <a:rPr lang="es-ES" sz="1400" dirty="0" err="1">
                <a:solidFill>
                  <a:schemeClr val="tx1"/>
                </a:solidFill>
              </a:rPr>
              <a:t>This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is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used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to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parametrize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block </a:t>
            </a:r>
            <a:r>
              <a:rPr lang="es-ES" sz="1400" dirty="0" err="1">
                <a:solidFill>
                  <a:schemeClr val="tx1"/>
                </a:solidFill>
              </a:rPr>
              <a:t>for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constant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values</a:t>
            </a:r>
            <a:r>
              <a:rPr lang="es-ES" sz="1400" dirty="0">
                <a:solidFill>
                  <a:schemeClr val="tx1"/>
                </a:solidFill>
              </a:rPr>
              <a:t>)</a:t>
            </a: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Create three ”edit” instances to allocate the parameter inputs</a:t>
            </a: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Set the parameter’s prompts and variable names:</a:t>
            </a: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n-US" sz="1600" dirty="0">
                <a:solidFill>
                  <a:schemeClr val="tx1"/>
                </a:solidFill>
              </a:rPr>
              <a:t>Satellite inertia </a:t>
            </a:r>
            <a:r>
              <a:rPr lang="en-US" sz="1600" dirty="0">
                <a:solidFill>
                  <a:schemeClr val="tx1"/>
                </a:solidFill>
                <a:sym typeface="Wingdings" pitchFamily="2" charset="2"/>
              </a:rPr>
              <a:t> </a:t>
            </a:r>
            <a:r>
              <a:rPr lang="en-US" sz="1600" i="1" dirty="0" err="1">
                <a:solidFill>
                  <a:schemeClr val="tx1"/>
                </a:solidFill>
                <a:sym typeface="Wingdings" pitchFamily="2" charset="2"/>
              </a:rPr>
              <a:t>Js</a:t>
            </a:r>
            <a:endParaRPr lang="en-US" sz="1600" dirty="0">
              <a:solidFill>
                <a:schemeClr val="tx1"/>
              </a:solidFill>
              <a:sym typeface="Wingdings" pitchFamily="2" charset="2"/>
            </a:endParaRP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n-US" sz="1600" dirty="0">
                <a:solidFill>
                  <a:schemeClr val="tx1"/>
                </a:solidFill>
                <a:sym typeface="Wingdings" pitchFamily="2" charset="2"/>
              </a:rPr>
              <a:t>Reaction wheel inertia  </a:t>
            </a:r>
            <a:r>
              <a:rPr lang="en-US" sz="1600" i="1" dirty="0" err="1">
                <a:solidFill>
                  <a:schemeClr val="tx1"/>
                </a:solidFill>
                <a:sym typeface="Wingdings" pitchFamily="2" charset="2"/>
              </a:rPr>
              <a:t>Jw</a:t>
            </a:r>
            <a:endParaRPr lang="en-US" sz="1600" dirty="0">
              <a:solidFill>
                <a:schemeClr val="tx1"/>
              </a:solidFill>
              <a:sym typeface="Wingdings" pitchFamily="2" charset="2"/>
            </a:endParaRP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n-US" sz="1600" dirty="0">
                <a:solidFill>
                  <a:schemeClr val="tx1"/>
                </a:solidFill>
              </a:rPr>
              <a:t>Initial state vector </a:t>
            </a:r>
            <a:r>
              <a:rPr lang="en-US" sz="1600" dirty="0">
                <a:solidFill>
                  <a:schemeClr val="tx1"/>
                </a:solidFill>
                <a:sym typeface="Wingdings" pitchFamily="2" charset="2"/>
              </a:rPr>
              <a:t> </a:t>
            </a:r>
            <a:r>
              <a:rPr lang="en-US" sz="1600" i="1" dirty="0">
                <a:solidFill>
                  <a:schemeClr val="tx1"/>
                </a:solidFill>
                <a:sym typeface="Wingdings" pitchFamily="2" charset="2"/>
              </a:rPr>
              <a:t>x0</a:t>
            </a:r>
            <a:endParaRPr lang="en-US" sz="1400" dirty="0">
              <a:solidFill>
                <a:schemeClr val="tx1"/>
              </a:solidFill>
            </a:endParaRP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Save the mask</a:t>
            </a:r>
          </a:p>
          <a:p>
            <a:pPr marL="120100" lvl="1" indent="0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None/>
            </a:pPr>
            <a:endParaRPr lang="en-US" sz="800" dirty="0">
              <a:solidFill>
                <a:schemeClr val="tx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79598FC-3F4F-5650-001C-5A6B71193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24" y="4083657"/>
            <a:ext cx="2013231" cy="2170164"/>
          </a:xfrm>
          <a:prstGeom prst="rect">
            <a:avLst/>
          </a:prstGeom>
        </p:spPr>
      </p:pic>
      <p:sp>
        <p:nvSpPr>
          <p:cNvPr id="5" name="Flecha derecha 4">
            <a:extLst>
              <a:ext uri="{FF2B5EF4-FFF2-40B4-BE49-F238E27FC236}">
                <a16:creationId xmlns:a16="http://schemas.microsoft.com/office/drawing/2014/main" id="{8CE2D4ED-B546-608F-A429-8B3499DD8E55}"/>
              </a:ext>
            </a:extLst>
          </p:cNvPr>
          <p:cNvSpPr/>
          <p:nvPr/>
        </p:nvSpPr>
        <p:spPr>
          <a:xfrm>
            <a:off x="2921655" y="5240568"/>
            <a:ext cx="398253" cy="16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F7C34ED-DCF0-DC71-0B52-EAAAB5E69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833" y="5003453"/>
            <a:ext cx="1825281" cy="63523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99EF125-22EA-BECB-41E7-8111E5209C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597" y="4647562"/>
            <a:ext cx="3537579" cy="1186009"/>
          </a:xfrm>
          <a:prstGeom prst="rect">
            <a:avLst/>
          </a:prstGeom>
        </p:spPr>
      </p:pic>
      <p:sp>
        <p:nvSpPr>
          <p:cNvPr id="16" name="Flecha derecha 15">
            <a:extLst>
              <a:ext uri="{FF2B5EF4-FFF2-40B4-BE49-F238E27FC236}">
                <a16:creationId xmlns:a16="http://schemas.microsoft.com/office/drawing/2014/main" id="{1EA9FB57-A9C0-FC30-2B54-041ED6ED3E46}"/>
              </a:ext>
            </a:extLst>
          </p:cNvPr>
          <p:cNvSpPr/>
          <p:nvPr/>
        </p:nvSpPr>
        <p:spPr>
          <a:xfrm>
            <a:off x="5394729" y="5240567"/>
            <a:ext cx="398253" cy="16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Flecha derecha 16">
            <a:extLst>
              <a:ext uri="{FF2B5EF4-FFF2-40B4-BE49-F238E27FC236}">
                <a16:creationId xmlns:a16="http://schemas.microsoft.com/office/drawing/2014/main" id="{08C65C7E-8D52-FBA0-73DF-DE66FEACF4BD}"/>
              </a:ext>
            </a:extLst>
          </p:cNvPr>
          <p:cNvSpPr/>
          <p:nvPr/>
        </p:nvSpPr>
        <p:spPr>
          <a:xfrm>
            <a:off x="9595791" y="5240566"/>
            <a:ext cx="398253" cy="16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AE7ADBE7-D3F0-A314-D73F-A0027A7815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3255" y="4793232"/>
            <a:ext cx="1687876" cy="89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88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A681D-EBE2-7A4D-2E75-0EDEE9AFD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FD23955-EFDD-B1DA-D281-F9FFCA44EA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8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6C56333-AEB7-6768-5C0D-D5D3294FC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01" y="775663"/>
            <a:ext cx="6515747" cy="585905"/>
          </a:xfrm>
        </p:spPr>
        <p:txBody>
          <a:bodyPr/>
          <a:lstStyle/>
          <a:p>
            <a:r>
              <a:rPr lang="es-ES" dirty="0"/>
              <a:t>Dynamics block </a:t>
            </a:r>
            <a:r>
              <a:rPr lang="es-ES" dirty="0" err="1"/>
              <a:t>creation</a:t>
            </a:r>
            <a:r>
              <a:rPr lang="es-ES" dirty="0"/>
              <a:t> III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Marcador de texto 4">
                <a:extLst>
                  <a:ext uri="{FF2B5EF4-FFF2-40B4-BE49-F238E27FC236}">
                    <a16:creationId xmlns:a16="http://schemas.microsoft.com/office/drawing/2014/main" id="{ABD17AD2-CB95-E6F6-3D86-E7390014C59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6224" y="1719303"/>
                <a:ext cx="10521344" cy="1998681"/>
              </a:xfrm>
              <a:prstGeom prst="rect">
                <a:avLst/>
              </a:prstGeom>
            </p:spPr>
            <p:txBody>
              <a:bodyPr vert="horz" lIns="0" tIns="38100" rIns="76200" bIns="38100" rtlCol="0">
                <a:normAutofit/>
              </a:bodyPr>
              <a:lstStyle>
                <a:lvl1pPr marL="0" indent="0" algn="l" defTabSz="109728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rgbClr val="FF3228"/>
                  </a:buClr>
                  <a:buFont typeface="Wingdings" panose="05000000000000000000" pitchFamily="2" charset="2"/>
                  <a:buNone/>
                  <a:defRPr lang="es-ES" sz="2400" b="1" kern="1200" dirty="0">
                    <a:solidFill>
                      <a:srgbClr val="1E1E1E"/>
                    </a:solidFill>
                    <a:latin typeface="Century Gothic" panose="020B0502020202020204" pitchFamily="34" charset="0"/>
                    <a:ea typeface="+mj-ea"/>
                    <a:cs typeface="+mj-cs"/>
                  </a:defRPr>
                </a:lvl1pPr>
                <a:lvl2pPr marL="541338" indent="-269875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rgbClr val="676766"/>
                  </a:buClr>
                  <a:buFont typeface="Wingdings" panose="05000000000000000000" pitchFamily="2" charset="2"/>
                  <a:buChar char="§"/>
                  <a:defRPr sz="2200" kern="1200">
                    <a:solidFill>
                      <a:srgbClr val="7D7878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2pPr>
                <a:lvl3pPr marL="137160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rgbClr val="1E1E1E"/>
                    </a:solidFill>
                    <a:latin typeface="+mn-lt"/>
                    <a:ea typeface="+mn-ea"/>
                    <a:cs typeface="+mn-cs"/>
                  </a:defRPr>
                </a:lvl3pPr>
                <a:lvl4pPr marL="192024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rgbClr val="1E1E1E"/>
                    </a:solidFill>
                    <a:latin typeface="+mn-lt"/>
                    <a:ea typeface="+mn-ea"/>
                    <a:cs typeface="+mn-cs"/>
                  </a:defRPr>
                </a:lvl4pPr>
                <a:lvl5pPr marL="246888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rgbClr val="1E1E1E"/>
                    </a:solidFill>
                    <a:latin typeface="+mn-lt"/>
                    <a:ea typeface="+mn-ea"/>
                    <a:cs typeface="+mn-cs"/>
                  </a:defRPr>
                </a:lvl5pPr>
                <a:lvl6pPr marL="301752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6616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11480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6344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58215" lvl="1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s-ES" sz="1400" dirty="0">
                    <a:solidFill>
                      <a:schemeClr val="tx1"/>
                    </a:solidFill>
                  </a:rPr>
                  <a:t>Implement </a:t>
                </a:r>
                <a:r>
                  <a:rPr lang="es-ES" sz="1400" dirty="0" err="1">
                    <a:solidFill>
                      <a:schemeClr val="tx1"/>
                    </a:solidFill>
                  </a:rPr>
                  <a:t>the</a:t>
                </a:r>
                <a:r>
                  <a:rPr lang="es-ES" sz="1400" dirty="0">
                    <a:solidFill>
                      <a:schemeClr val="tx1"/>
                    </a:solidFill>
                  </a:rPr>
                  <a:t> </a:t>
                </a:r>
                <a:r>
                  <a:rPr lang="es-ES" sz="1400" dirty="0" err="1">
                    <a:solidFill>
                      <a:schemeClr val="tx1"/>
                    </a:solidFill>
                  </a:rPr>
                  <a:t>dynamics</a:t>
                </a:r>
                <a:r>
                  <a:rPr lang="es-ES" sz="1400" dirty="0">
                    <a:solidFill>
                      <a:schemeClr val="tx1"/>
                    </a:solidFill>
                  </a:rPr>
                  <a:t>:</a:t>
                </a:r>
                <a:endParaRPr lang="es-ES" sz="1600" dirty="0">
                  <a:solidFill>
                    <a:schemeClr val="tx1"/>
                  </a:solidFill>
                </a:endParaRPr>
              </a:p>
              <a:p>
                <a:pPr marL="1188477" lvl="2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</a:pPr>
                <a:r>
                  <a:rPr lang="es-ES" sz="1600" dirty="0" err="1">
                    <a:solidFill>
                      <a:schemeClr val="tx1"/>
                    </a:solidFill>
                  </a:rPr>
                  <a:t>Take</a:t>
                </a:r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  <a:r>
                  <a:rPr lang="es-ES" sz="1600" dirty="0" err="1">
                    <a:solidFill>
                      <a:schemeClr val="tx1"/>
                    </a:solidFill>
                  </a:rPr>
                  <a:t>the</a:t>
                </a:r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  <a:r>
                  <a:rPr lang="es-ES" sz="1600" dirty="0" err="1">
                    <a:solidFill>
                      <a:schemeClr val="tx1"/>
                    </a:solidFill>
                  </a:rPr>
                  <a:t>second</a:t>
                </a:r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  <a:r>
                  <a:rPr lang="es-ES" sz="1600" dirty="0" err="1">
                    <a:solidFill>
                      <a:schemeClr val="tx1"/>
                    </a:solidFill>
                  </a:rPr>
                  <a:t>element</a:t>
                </a:r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  <a:r>
                  <a:rPr lang="es-ES" sz="1600" dirty="0" err="1">
                    <a:solidFill>
                      <a:schemeClr val="tx1"/>
                    </a:solidFill>
                  </a:rPr>
                  <a:t>of</a:t>
                </a:r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  <a:r>
                  <a:rPr lang="es-ES" sz="1600" dirty="0" err="1">
                    <a:solidFill>
                      <a:schemeClr val="tx1"/>
                    </a:solidFill>
                  </a:rPr>
                  <a:t>the</a:t>
                </a:r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  <a:r>
                  <a:rPr lang="es-ES" sz="1600" dirty="0" err="1">
                    <a:solidFill>
                      <a:schemeClr val="tx1"/>
                    </a:solidFill>
                  </a:rPr>
                  <a:t>state</a:t>
                </a:r>
                <a:r>
                  <a:rPr lang="es-ES" sz="1600" dirty="0">
                    <a:solidFill>
                      <a:schemeClr val="tx1"/>
                    </a:solidFill>
                  </a:rPr>
                  <a:t> (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acc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) and set </a:t>
                </a:r>
                <a:r>
                  <a:rPr lang="es-ES" sz="1600" dirty="0" err="1">
                    <a:solidFill>
                      <a:schemeClr val="tx1"/>
                    </a:solidFill>
                  </a:rPr>
                  <a:t>it</a:t>
                </a:r>
                <a:r>
                  <a:rPr lang="es-ES" sz="1600" dirty="0">
                    <a:solidFill>
                      <a:schemeClr val="tx1"/>
                    </a:solidFill>
                  </a:rPr>
                  <a:t> as </a:t>
                </a:r>
                <a:r>
                  <a:rPr lang="es-ES" sz="1600" dirty="0" err="1">
                    <a:solidFill>
                      <a:schemeClr val="tx1"/>
                    </a:solidFill>
                  </a:rPr>
                  <a:t>the</a:t>
                </a:r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  <a:r>
                  <a:rPr lang="es-ES" sz="1600" dirty="0" err="1">
                    <a:solidFill>
                      <a:schemeClr val="tx1"/>
                    </a:solidFill>
                  </a:rPr>
                  <a:t>first</a:t>
                </a:r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  <a:r>
                  <a:rPr lang="es-ES" sz="1600" dirty="0" err="1">
                    <a:solidFill>
                      <a:schemeClr val="tx1"/>
                    </a:solidFill>
                  </a:rPr>
                  <a:t>element</a:t>
                </a:r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  <a:r>
                  <a:rPr lang="es-ES" sz="1600" dirty="0" err="1">
                    <a:solidFill>
                      <a:schemeClr val="tx1"/>
                    </a:solidFill>
                  </a:rPr>
                  <a:t>of</a:t>
                </a:r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  <a:r>
                  <a:rPr lang="es-ES" sz="1600" dirty="0" err="1">
                    <a:solidFill>
                      <a:schemeClr val="tx1"/>
                    </a:solidFill>
                  </a:rPr>
                  <a:t>the</a:t>
                </a:r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  <a:r>
                  <a:rPr lang="es-ES" sz="1600" dirty="0" err="1">
                    <a:solidFill>
                      <a:schemeClr val="tx1"/>
                    </a:solidFill>
                  </a:rPr>
                  <a:t>state</a:t>
                </a:r>
                <a:r>
                  <a:rPr lang="es-ES" sz="1600" dirty="0">
                    <a:solidFill>
                      <a:schemeClr val="tx1"/>
                    </a:solidFill>
                  </a:rPr>
                  <a:t> derivative vector</a:t>
                </a:r>
              </a:p>
              <a:p>
                <a:pPr marL="1188477" lvl="2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</a:pPr>
                <a:r>
                  <a:rPr lang="es-ES" sz="1600" dirty="0" err="1">
                    <a:solidFill>
                      <a:schemeClr val="tx1"/>
                    </a:solidFill>
                  </a:rPr>
                  <a:t>Apply</a:t>
                </a:r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  <a:r>
                  <a:rPr lang="es-ES" sz="1600" dirty="0" err="1">
                    <a:solidFill>
                      <a:schemeClr val="tx1"/>
                    </a:solidFill>
                  </a:rPr>
                  <a:t>the</a:t>
                </a:r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  <a:r>
                  <a:rPr lang="es-ES" sz="1600" dirty="0" err="1">
                    <a:solidFill>
                      <a:schemeClr val="tx1"/>
                    </a:solidFill>
                  </a:rPr>
                  <a:t>equations</a:t>
                </a:r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  <a:r>
                  <a:rPr lang="es-ES" sz="1600" dirty="0" err="1">
                    <a:solidFill>
                      <a:schemeClr val="tx1"/>
                    </a:solidFill>
                  </a:rPr>
                  <a:t>for</a:t>
                </a:r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  <a:r>
                  <a:rPr lang="es-ES" sz="1600" dirty="0" err="1">
                    <a:solidFill>
                      <a:schemeClr val="tx1"/>
                    </a:solidFill>
                  </a:rPr>
                  <a:t>the</a:t>
                </a:r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  <a:r>
                  <a:rPr lang="es-ES" sz="1600" dirty="0" err="1">
                    <a:solidFill>
                      <a:schemeClr val="tx1"/>
                    </a:solidFill>
                  </a:rPr>
                  <a:t>second</a:t>
                </a:r>
                <a:r>
                  <a:rPr lang="es-ES" sz="1600" dirty="0">
                    <a:solidFill>
                      <a:schemeClr val="tx1"/>
                    </a:solidFill>
                  </a:rPr>
                  <a:t> and </a:t>
                </a:r>
                <a:r>
                  <a:rPr lang="es-ES" sz="1600" dirty="0" err="1">
                    <a:solidFill>
                      <a:schemeClr val="tx1"/>
                    </a:solidFill>
                  </a:rPr>
                  <a:t>third</a:t>
                </a:r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  <a:r>
                  <a:rPr lang="es-ES" sz="1600" dirty="0" err="1">
                    <a:solidFill>
                      <a:schemeClr val="tx1"/>
                    </a:solidFill>
                  </a:rPr>
                  <a:t>element</a:t>
                </a:r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  <a:r>
                  <a:rPr lang="es-ES" sz="1600" dirty="0" err="1">
                    <a:solidFill>
                      <a:schemeClr val="tx1"/>
                    </a:solidFill>
                  </a:rPr>
                  <a:t>of</a:t>
                </a:r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  <a:r>
                  <a:rPr lang="es-ES" sz="1600" dirty="0" err="1">
                    <a:solidFill>
                      <a:schemeClr val="tx1"/>
                    </a:solidFill>
                  </a:rPr>
                  <a:t>the</a:t>
                </a:r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  <a:r>
                  <a:rPr lang="es-ES" sz="1600" dirty="0" err="1">
                    <a:solidFill>
                      <a:schemeClr val="tx1"/>
                    </a:solidFill>
                  </a:rPr>
                  <a:t>state</a:t>
                </a:r>
                <a:r>
                  <a:rPr lang="es-ES" sz="1600" dirty="0">
                    <a:solidFill>
                      <a:schemeClr val="tx1"/>
                    </a:solidFill>
                  </a:rPr>
                  <a:t> derivative vector</a:t>
                </a:r>
              </a:p>
              <a:p>
                <a:pPr marL="358215" lvl="1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tx1"/>
                    </a:solidFill>
                  </a:rPr>
                  <a:t>Join the three components of the state derivative using a 3-element ”mux” block</a:t>
                </a:r>
              </a:p>
            </p:txBody>
          </p:sp>
        </mc:Choice>
        <mc:Fallback xmlns="">
          <p:sp>
            <p:nvSpPr>
              <p:cNvPr id="9" name="Marcador de texto 4">
                <a:extLst>
                  <a:ext uri="{FF2B5EF4-FFF2-40B4-BE49-F238E27FC236}">
                    <a16:creationId xmlns:a16="http://schemas.microsoft.com/office/drawing/2014/main" id="{ABD17AD2-CB95-E6F6-3D86-E7390014C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224" y="1719303"/>
                <a:ext cx="10521344" cy="1998681"/>
              </a:xfrm>
              <a:prstGeom prst="rect">
                <a:avLst/>
              </a:prstGeom>
              <a:blipFill>
                <a:blip r:embed="rId2"/>
                <a:stretch>
                  <a:fillRect t="-12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n 9">
            <a:extLst>
              <a:ext uri="{FF2B5EF4-FFF2-40B4-BE49-F238E27FC236}">
                <a16:creationId xmlns:a16="http://schemas.microsoft.com/office/drawing/2014/main" id="{13C84F96-87F1-4198-D561-BFECBD8CD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24" y="4020985"/>
            <a:ext cx="2997440" cy="175763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6CDFF75-22B2-5BD8-D9E5-CEB3427FF8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423" y="3329795"/>
            <a:ext cx="3248946" cy="3140016"/>
          </a:xfrm>
          <a:prstGeom prst="rect">
            <a:avLst/>
          </a:prstGeom>
        </p:spPr>
      </p:pic>
      <p:sp>
        <p:nvSpPr>
          <p:cNvPr id="12" name="Flecha derecha 11">
            <a:extLst>
              <a:ext uri="{FF2B5EF4-FFF2-40B4-BE49-F238E27FC236}">
                <a16:creationId xmlns:a16="http://schemas.microsoft.com/office/drawing/2014/main" id="{75CCB814-C8B2-8F4E-DA1B-DE7EEC7F19AA}"/>
              </a:ext>
            </a:extLst>
          </p:cNvPr>
          <p:cNvSpPr/>
          <p:nvPr/>
        </p:nvSpPr>
        <p:spPr>
          <a:xfrm>
            <a:off x="3780026" y="4671223"/>
            <a:ext cx="398253" cy="16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28F726D-2D97-686D-E6FF-37032D8F99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649" y="3717984"/>
            <a:ext cx="3132678" cy="2181134"/>
          </a:xfrm>
          <a:prstGeom prst="rect">
            <a:avLst/>
          </a:prstGeom>
        </p:spPr>
      </p:pic>
      <p:sp>
        <p:nvSpPr>
          <p:cNvPr id="14" name="Flecha derecha 13">
            <a:extLst>
              <a:ext uri="{FF2B5EF4-FFF2-40B4-BE49-F238E27FC236}">
                <a16:creationId xmlns:a16="http://schemas.microsoft.com/office/drawing/2014/main" id="{555DAF5E-A18D-7508-1464-09BCAAF7E74C}"/>
              </a:ext>
            </a:extLst>
          </p:cNvPr>
          <p:cNvSpPr/>
          <p:nvPr/>
        </p:nvSpPr>
        <p:spPr>
          <a:xfrm>
            <a:off x="7961001" y="4672654"/>
            <a:ext cx="398253" cy="16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2095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5EA07-868D-601B-F276-0D75D65FA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32D96EA-7FBA-952E-A6E9-3F7C20848F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9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FC8B072A-02CE-3BB7-6CBD-B962DF973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01" y="775663"/>
            <a:ext cx="6515747" cy="585905"/>
          </a:xfrm>
        </p:spPr>
        <p:txBody>
          <a:bodyPr/>
          <a:lstStyle/>
          <a:p>
            <a:r>
              <a:rPr lang="es-ES" dirty="0"/>
              <a:t>Dynamics block </a:t>
            </a:r>
            <a:r>
              <a:rPr lang="es-ES" dirty="0" err="1"/>
              <a:t>creation</a:t>
            </a:r>
            <a:r>
              <a:rPr lang="es-ES" dirty="0"/>
              <a:t> IV</a:t>
            </a:r>
          </a:p>
        </p:txBody>
      </p:sp>
      <p:sp>
        <p:nvSpPr>
          <p:cNvPr id="9" name="Marcador de texto 4">
            <a:extLst>
              <a:ext uri="{FF2B5EF4-FFF2-40B4-BE49-F238E27FC236}">
                <a16:creationId xmlns:a16="http://schemas.microsoft.com/office/drawing/2014/main" id="{3B073C89-C91A-3EF6-B3EA-E48F479B69EA}"/>
              </a:ext>
            </a:extLst>
          </p:cNvPr>
          <p:cNvSpPr txBox="1">
            <a:spLocks/>
          </p:cNvSpPr>
          <p:nvPr/>
        </p:nvSpPr>
        <p:spPr>
          <a:xfrm>
            <a:off x="636224" y="1719303"/>
            <a:ext cx="10521344" cy="585905"/>
          </a:xfrm>
          <a:prstGeom prst="rect">
            <a:avLst/>
          </a:prstGeom>
        </p:spPr>
        <p:txBody>
          <a:bodyPr vert="horz" lIns="0" tIns="38100" rIns="76200" bIns="38100" rtlCol="0">
            <a:normAutofit/>
          </a:bodyPr>
          <a:lstStyle>
            <a:lvl1pPr marL="0" indent="0" algn="l" defTabSz="109728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rgbClr val="FF3228"/>
              </a:buClr>
              <a:buFont typeface="Wingdings" panose="05000000000000000000" pitchFamily="2" charset="2"/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 marL="541338" indent="-269875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676766"/>
              </a:buClr>
              <a:buFont typeface="Wingdings" panose="05000000000000000000" pitchFamily="2" charset="2"/>
              <a:buChar char="§"/>
              <a:defRPr sz="220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ES" sz="1400" dirty="0" err="1">
                <a:solidFill>
                  <a:schemeClr val="tx1"/>
                </a:solidFill>
              </a:rPr>
              <a:t>Add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an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integrator</a:t>
            </a:r>
            <a:r>
              <a:rPr lang="es-ES" sz="1400" dirty="0">
                <a:solidFill>
                  <a:schemeClr val="tx1"/>
                </a:solidFill>
              </a:rPr>
              <a:t>, </a:t>
            </a:r>
            <a:r>
              <a:rPr lang="es-ES" sz="1400" dirty="0" err="1">
                <a:solidFill>
                  <a:schemeClr val="tx1"/>
                </a:solidFill>
              </a:rPr>
              <a:t>applying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initial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state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by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referencing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variable </a:t>
            </a:r>
            <a:r>
              <a:rPr lang="es-ES" sz="1400" dirty="0" err="1">
                <a:solidFill>
                  <a:schemeClr val="tx1"/>
                </a:solidFill>
              </a:rPr>
              <a:t>that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was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listed</a:t>
            </a:r>
            <a:r>
              <a:rPr lang="es-ES" sz="1400" dirty="0">
                <a:solidFill>
                  <a:schemeClr val="tx1"/>
                </a:solidFill>
              </a:rPr>
              <a:t> in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mask</a:t>
            </a:r>
            <a:r>
              <a:rPr lang="es-ES" sz="1400" dirty="0">
                <a:solidFill>
                  <a:schemeClr val="tx1"/>
                </a:solidFill>
              </a:rPr>
              <a:t> (</a:t>
            </a:r>
            <a:r>
              <a:rPr lang="es-ES" sz="1400" i="1" dirty="0">
                <a:solidFill>
                  <a:schemeClr val="tx1"/>
                </a:solidFill>
              </a:rPr>
              <a:t>x0</a:t>
            </a:r>
            <a:r>
              <a:rPr lang="es-ES" sz="1400" dirty="0">
                <a:solidFill>
                  <a:schemeClr val="tx1"/>
                </a:solidFill>
              </a:rPr>
              <a:t>)</a:t>
            </a: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4" name="Flecha derecha 13">
            <a:extLst>
              <a:ext uri="{FF2B5EF4-FFF2-40B4-BE49-F238E27FC236}">
                <a16:creationId xmlns:a16="http://schemas.microsoft.com/office/drawing/2014/main" id="{3FF7E05A-F8E5-EB24-D171-E6CE84F90C39}"/>
              </a:ext>
            </a:extLst>
          </p:cNvPr>
          <p:cNvSpPr/>
          <p:nvPr/>
        </p:nvSpPr>
        <p:spPr>
          <a:xfrm>
            <a:off x="3897960" y="4372547"/>
            <a:ext cx="398253" cy="16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520E930-F1F6-A742-D812-5C2735657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861" y="2823757"/>
            <a:ext cx="2749077" cy="325858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7812822-2A14-C1CD-9329-0B5CE0633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305" y="2846194"/>
            <a:ext cx="6942442" cy="305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691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E0CF4-6D36-C4A0-DA8B-5EEB2FA46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7DC6C59-9629-D5AC-74C2-8D2C375B03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10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F9888BD-7219-9A6A-49BC-2BFC29644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01" y="775663"/>
            <a:ext cx="6515747" cy="585905"/>
          </a:xfrm>
        </p:spPr>
        <p:txBody>
          <a:bodyPr/>
          <a:lstStyle/>
          <a:p>
            <a:r>
              <a:rPr lang="es-ES" dirty="0" err="1"/>
              <a:t>Main</a:t>
            </a:r>
            <a:r>
              <a:rPr lang="es-ES" dirty="0"/>
              <a:t> </a:t>
            </a:r>
            <a:r>
              <a:rPr lang="es-ES" dirty="0" err="1"/>
              <a:t>model</a:t>
            </a:r>
            <a:r>
              <a:rPr lang="es-ES" dirty="0"/>
              <a:t> </a:t>
            </a:r>
            <a:r>
              <a:rPr lang="es-ES" dirty="0" err="1"/>
              <a:t>creation</a:t>
            </a:r>
            <a:r>
              <a:rPr lang="es-ES" dirty="0"/>
              <a:t> I</a:t>
            </a:r>
          </a:p>
        </p:txBody>
      </p:sp>
      <p:sp>
        <p:nvSpPr>
          <p:cNvPr id="9" name="Marcador de texto 4">
            <a:extLst>
              <a:ext uri="{FF2B5EF4-FFF2-40B4-BE49-F238E27FC236}">
                <a16:creationId xmlns:a16="http://schemas.microsoft.com/office/drawing/2014/main" id="{43B1921A-7D7D-7D11-DCB6-B34263B1D496}"/>
              </a:ext>
            </a:extLst>
          </p:cNvPr>
          <p:cNvSpPr txBox="1">
            <a:spLocks/>
          </p:cNvSpPr>
          <p:nvPr/>
        </p:nvSpPr>
        <p:spPr>
          <a:xfrm>
            <a:off x="636224" y="1719303"/>
            <a:ext cx="10521344" cy="1709697"/>
          </a:xfrm>
          <a:prstGeom prst="rect">
            <a:avLst/>
          </a:prstGeom>
        </p:spPr>
        <p:txBody>
          <a:bodyPr vert="horz" lIns="0" tIns="38100" rIns="76200" bIns="38100" rtlCol="0">
            <a:normAutofit/>
          </a:bodyPr>
          <a:lstStyle>
            <a:lvl1pPr marL="0" indent="0" algn="l" defTabSz="109728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rgbClr val="FF3228"/>
              </a:buClr>
              <a:buFont typeface="Wingdings" panose="05000000000000000000" pitchFamily="2" charset="2"/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 marL="541338" indent="-269875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676766"/>
              </a:buClr>
              <a:buFont typeface="Wingdings" panose="05000000000000000000" pitchFamily="2" charset="2"/>
              <a:buChar char="§"/>
              <a:defRPr sz="220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dynamics</a:t>
            </a:r>
            <a:r>
              <a:rPr lang="es-ES" sz="1400" dirty="0">
                <a:solidFill>
                  <a:schemeClr val="tx1"/>
                </a:solidFill>
              </a:rPr>
              <a:t> block </a:t>
            </a:r>
            <a:r>
              <a:rPr lang="es-ES" sz="1400" dirty="0" err="1">
                <a:solidFill>
                  <a:schemeClr val="tx1"/>
                </a:solidFill>
              </a:rPr>
              <a:t>is</a:t>
            </a:r>
            <a:r>
              <a:rPr lang="es-ES" sz="1400" dirty="0">
                <a:solidFill>
                  <a:schemeClr val="tx1"/>
                </a:solidFill>
              </a:rPr>
              <a:t> a </a:t>
            </a:r>
            <a:r>
              <a:rPr lang="es-ES" sz="1400" dirty="0" err="1">
                <a:solidFill>
                  <a:schemeClr val="tx1"/>
                </a:solidFill>
              </a:rPr>
              <a:t>parametrized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subsystem</a:t>
            </a:r>
            <a:r>
              <a:rPr lang="es-ES" sz="1400" dirty="0">
                <a:solidFill>
                  <a:schemeClr val="tx1"/>
                </a:solidFill>
              </a:rPr>
              <a:t>, so </a:t>
            </a:r>
            <a:r>
              <a:rPr lang="es-ES" sz="1400" dirty="0" err="1">
                <a:solidFill>
                  <a:schemeClr val="tx1"/>
                </a:solidFill>
              </a:rPr>
              <a:t>it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can’t</a:t>
            </a:r>
            <a:r>
              <a:rPr lang="es-ES" sz="1400" dirty="0">
                <a:solidFill>
                  <a:schemeClr val="tx1"/>
                </a:solidFill>
              </a:rPr>
              <a:t> run </a:t>
            </a:r>
            <a:r>
              <a:rPr lang="es-ES" sz="1400" dirty="0" err="1">
                <a:solidFill>
                  <a:schemeClr val="tx1"/>
                </a:solidFill>
              </a:rPr>
              <a:t>by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itself</a:t>
            </a:r>
            <a:r>
              <a:rPr lang="es-ES" sz="1400" dirty="0">
                <a:solidFill>
                  <a:schemeClr val="tx1"/>
                </a:solidFill>
              </a:rPr>
              <a:t>. </a:t>
            </a:r>
            <a:r>
              <a:rPr lang="es-ES" sz="1400" dirty="0" err="1">
                <a:solidFill>
                  <a:schemeClr val="tx1"/>
                </a:solidFill>
              </a:rPr>
              <a:t>For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that</a:t>
            </a:r>
            <a:r>
              <a:rPr lang="es-ES" sz="1400" dirty="0">
                <a:solidFill>
                  <a:schemeClr val="tx1"/>
                </a:solidFill>
              </a:rPr>
              <a:t>, </a:t>
            </a:r>
            <a:r>
              <a:rPr lang="es-ES" sz="1400" dirty="0" err="1">
                <a:solidFill>
                  <a:schemeClr val="tx1"/>
                </a:solidFill>
              </a:rPr>
              <a:t>we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need</a:t>
            </a:r>
            <a:r>
              <a:rPr lang="es-ES" sz="1400" dirty="0">
                <a:solidFill>
                  <a:schemeClr val="tx1"/>
                </a:solidFill>
              </a:rPr>
              <a:t>:</a:t>
            </a: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s-ES" sz="1600" dirty="0">
                <a:solidFill>
                  <a:schemeClr val="tx1"/>
                </a:solidFill>
              </a:rPr>
              <a:t>A script </a:t>
            </a:r>
            <a:r>
              <a:rPr lang="es-ES" sz="1600" dirty="0" err="1">
                <a:solidFill>
                  <a:schemeClr val="tx1"/>
                </a:solidFill>
              </a:rPr>
              <a:t>to</a:t>
            </a:r>
            <a:r>
              <a:rPr lang="es-ES" sz="1600" dirty="0">
                <a:solidFill>
                  <a:schemeClr val="tx1"/>
                </a:solidFill>
              </a:rPr>
              <a:t> load </a:t>
            </a:r>
            <a:r>
              <a:rPr lang="es-ES" sz="1600" dirty="0" err="1">
                <a:solidFill>
                  <a:schemeClr val="tx1"/>
                </a:solidFill>
              </a:rPr>
              <a:t>the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parameters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into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Matlab’s</a:t>
            </a:r>
            <a:r>
              <a:rPr lang="es-ES" sz="1600" dirty="0">
                <a:solidFill>
                  <a:schemeClr val="tx1"/>
                </a:solidFill>
              </a:rPr>
              <a:t> base </a:t>
            </a:r>
            <a:r>
              <a:rPr lang="es-ES" sz="1600" dirty="0" err="1">
                <a:solidFill>
                  <a:schemeClr val="tx1"/>
                </a:solidFill>
              </a:rPr>
              <a:t>workspace</a:t>
            </a:r>
            <a:endParaRPr lang="es-ES" sz="1600" dirty="0">
              <a:solidFill>
                <a:schemeClr val="tx1"/>
              </a:solidFill>
            </a:endParaRP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s-ES" sz="1600" dirty="0">
                <a:solidFill>
                  <a:schemeClr val="tx1"/>
                </a:solidFill>
              </a:rPr>
              <a:t>A </a:t>
            </a:r>
            <a:r>
              <a:rPr lang="es-ES" sz="1600" dirty="0" err="1">
                <a:solidFill>
                  <a:schemeClr val="tx1"/>
                </a:solidFill>
              </a:rPr>
              <a:t>Simulink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model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that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references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the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dynamics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subsystem</a:t>
            </a:r>
            <a:endParaRPr lang="es-ES" sz="1600" dirty="0">
              <a:solidFill>
                <a:schemeClr val="tx1"/>
              </a:solidFill>
            </a:endParaRP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tx1"/>
                </a:solidFill>
              </a:rPr>
              <a:t>Once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subsystem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reference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is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added</a:t>
            </a:r>
            <a:r>
              <a:rPr lang="es-ES" sz="1400" dirty="0">
                <a:solidFill>
                  <a:schemeClr val="tx1"/>
                </a:solidFill>
              </a:rPr>
              <a:t>, configure </a:t>
            </a:r>
            <a:r>
              <a:rPr lang="es-ES" sz="1400" dirty="0" err="1">
                <a:solidFill>
                  <a:schemeClr val="tx1"/>
                </a:solidFill>
              </a:rPr>
              <a:t>its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mask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by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double</a:t>
            </a:r>
            <a:r>
              <a:rPr lang="es-ES" sz="1400" dirty="0">
                <a:solidFill>
                  <a:schemeClr val="tx1"/>
                </a:solidFill>
              </a:rPr>
              <a:t> clicking </a:t>
            </a:r>
            <a:r>
              <a:rPr lang="es-ES" sz="1400" dirty="0" err="1">
                <a:solidFill>
                  <a:schemeClr val="tx1"/>
                </a:solidFill>
              </a:rPr>
              <a:t>on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it</a:t>
            </a:r>
            <a:r>
              <a:rPr lang="es-ES" sz="1400" dirty="0">
                <a:solidFill>
                  <a:schemeClr val="tx1"/>
                </a:solidFill>
              </a:rPr>
              <a:t> (load </a:t>
            </a:r>
            <a:r>
              <a:rPr lang="es-ES" sz="1400" dirty="0" err="1">
                <a:solidFill>
                  <a:schemeClr val="tx1"/>
                </a:solidFill>
              </a:rPr>
              <a:t>first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variables </a:t>
            </a:r>
            <a:r>
              <a:rPr lang="es-ES" sz="1400" dirty="0" err="1">
                <a:solidFill>
                  <a:schemeClr val="tx1"/>
                </a:solidFill>
              </a:rPr>
              <a:t>through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input script)</a:t>
            </a: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3BF608E-32D8-FB38-BEE4-CB87A3EAB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24" y="3429000"/>
            <a:ext cx="1016000" cy="2571750"/>
          </a:xfrm>
          <a:prstGeom prst="rect">
            <a:avLst/>
          </a:prstGeom>
        </p:spPr>
      </p:pic>
      <p:sp>
        <p:nvSpPr>
          <p:cNvPr id="8" name="Flecha derecha 7">
            <a:extLst>
              <a:ext uri="{FF2B5EF4-FFF2-40B4-BE49-F238E27FC236}">
                <a16:creationId xmlns:a16="http://schemas.microsoft.com/office/drawing/2014/main" id="{1087B007-3BC2-AA89-BDA8-015D84659929}"/>
              </a:ext>
            </a:extLst>
          </p:cNvPr>
          <p:cNvSpPr/>
          <p:nvPr/>
        </p:nvSpPr>
        <p:spPr>
          <a:xfrm>
            <a:off x="1775862" y="4651175"/>
            <a:ext cx="398253" cy="16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41A7EA1-A7B4-54C4-837D-459562DEBC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769" t="1" r="29541" b="-4197"/>
          <a:stretch/>
        </p:blipFill>
        <p:spPr>
          <a:xfrm>
            <a:off x="2432168" y="4443028"/>
            <a:ext cx="1490091" cy="70469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76AA098-A9B6-DB37-E041-ED0F89291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096" y="3606800"/>
            <a:ext cx="3420970" cy="2571750"/>
          </a:xfrm>
          <a:prstGeom prst="rect">
            <a:avLst/>
          </a:prstGeom>
        </p:spPr>
      </p:pic>
      <p:sp>
        <p:nvSpPr>
          <p:cNvPr id="13" name="Flecha derecha 12">
            <a:extLst>
              <a:ext uri="{FF2B5EF4-FFF2-40B4-BE49-F238E27FC236}">
                <a16:creationId xmlns:a16="http://schemas.microsoft.com/office/drawing/2014/main" id="{7C90B815-92C0-A9C0-9F2A-5CE8870DC386}"/>
              </a:ext>
            </a:extLst>
          </p:cNvPr>
          <p:cNvSpPr/>
          <p:nvPr/>
        </p:nvSpPr>
        <p:spPr>
          <a:xfrm>
            <a:off x="4113827" y="4731675"/>
            <a:ext cx="398253" cy="16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Flecha derecha 14">
            <a:extLst>
              <a:ext uri="{FF2B5EF4-FFF2-40B4-BE49-F238E27FC236}">
                <a16:creationId xmlns:a16="http://schemas.microsoft.com/office/drawing/2014/main" id="{CAF2E18E-DF69-E86E-8C06-4BA40412CB29}"/>
              </a:ext>
            </a:extLst>
          </p:cNvPr>
          <p:cNvSpPr/>
          <p:nvPr/>
        </p:nvSpPr>
        <p:spPr>
          <a:xfrm>
            <a:off x="8203260" y="4661299"/>
            <a:ext cx="398253" cy="16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E7524DF8-7133-0D3F-6F7D-94A62136D6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9707" y="4178931"/>
            <a:ext cx="3032197" cy="110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978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E24AC-DDD8-8908-FA8C-0DB821B9A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4749A48-D9AA-7C0B-89C4-03E407A72A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11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54AA440-DF16-5CC8-684A-6B53284BB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01" y="775663"/>
            <a:ext cx="6515747" cy="585905"/>
          </a:xfrm>
        </p:spPr>
        <p:txBody>
          <a:bodyPr/>
          <a:lstStyle/>
          <a:p>
            <a:r>
              <a:rPr lang="es-ES" dirty="0" err="1"/>
              <a:t>Main</a:t>
            </a:r>
            <a:r>
              <a:rPr lang="es-ES" dirty="0"/>
              <a:t> </a:t>
            </a:r>
            <a:r>
              <a:rPr lang="es-ES" dirty="0" err="1"/>
              <a:t>model</a:t>
            </a:r>
            <a:r>
              <a:rPr lang="es-ES" dirty="0"/>
              <a:t> </a:t>
            </a:r>
            <a:r>
              <a:rPr lang="es-ES" dirty="0" err="1"/>
              <a:t>creation</a:t>
            </a:r>
            <a:r>
              <a:rPr lang="es-ES" dirty="0"/>
              <a:t> II</a:t>
            </a:r>
          </a:p>
        </p:txBody>
      </p:sp>
      <p:sp>
        <p:nvSpPr>
          <p:cNvPr id="9" name="Marcador de texto 4">
            <a:extLst>
              <a:ext uri="{FF2B5EF4-FFF2-40B4-BE49-F238E27FC236}">
                <a16:creationId xmlns:a16="http://schemas.microsoft.com/office/drawing/2014/main" id="{225964BC-2889-9D85-5159-48045FE2D47D}"/>
              </a:ext>
            </a:extLst>
          </p:cNvPr>
          <p:cNvSpPr txBox="1">
            <a:spLocks/>
          </p:cNvSpPr>
          <p:nvPr/>
        </p:nvSpPr>
        <p:spPr>
          <a:xfrm>
            <a:off x="636224" y="1719303"/>
            <a:ext cx="10521344" cy="1709697"/>
          </a:xfrm>
          <a:prstGeom prst="rect">
            <a:avLst/>
          </a:prstGeom>
        </p:spPr>
        <p:txBody>
          <a:bodyPr vert="horz" lIns="0" tIns="38100" rIns="76200" bIns="38100" rtlCol="0">
            <a:normAutofit lnSpcReduction="10000"/>
          </a:bodyPr>
          <a:lstStyle>
            <a:lvl1pPr marL="0" indent="0" algn="l" defTabSz="109728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rgbClr val="FF3228"/>
              </a:buClr>
              <a:buFont typeface="Wingdings" panose="05000000000000000000" pitchFamily="2" charset="2"/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 marL="541338" indent="-269875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676766"/>
              </a:buClr>
              <a:buFont typeface="Wingdings" panose="05000000000000000000" pitchFamily="2" charset="2"/>
              <a:buChar char="§"/>
              <a:defRPr sz="220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ES" sz="1400" dirty="0" err="1">
                <a:solidFill>
                  <a:schemeClr val="tx1"/>
                </a:solidFill>
              </a:rPr>
              <a:t>Add</a:t>
            </a:r>
            <a:r>
              <a:rPr lang="es-ES" sz="1400" dirty="0">
                <a:solidFill>
                  <a:schemeClr val="tx1"/>
                </a:solidFill>
              </a:rPr>
              <a:t> a 1 step </a:t>
            </a:r>
            <a:r>
              <a:rPr lang="es-ES" sz="1400" dirty="0" err="1">
                <a:solidFill>
                  <a:schemeClr val="tx1"/>
                </a:solidFill>
              </a:rPr>
              <a:t>delay</a:t>
            </a:r>
            <a:r>
              <a:rPr lang="es-ES" sz="1400" dirty="0">
                <a:solidFill>
                  <a:schemeClr val="tx1"/>
                </a:solidFill>
              </a:rPr>
              <a:t> block after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output </a:t>
            </a:r>
            <a:r>
              <a:rPr lang="es-ES" sz="1400" dirty="0" err="1">
                <a:solidFill>
                  <a:schemeClr val="tx1"/>
                </a:solidFill>
              </a:rPr>
              <a:t>of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dynamics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before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feeding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integrated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state</a:t>
            </a:r>
            <a:r>
              <a:rPr lang="es-ES" sz="1400" dirty="0">
                <a:solidFill>
                  <a:schemeClr val="tx1"/>
                </a:solidFill>
              </a:rPr>
              <a:t> back </a:t>
            </a:r>
            <a:r>
              <a:rPr lang="es-ES" sz="1400" dirty="0" err="1">
                <a:solidFill>
                  <a:schemeClr val="tx1"/>
                </a:solidFill>
              </a:rPr>
              <a:t>to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dynamics</a:t>
            </a:r>
            <a:r>
              <a:rPr lang="es-ES" sz="1400" dirty="0">
                <a:solidFill>
                  <a:schemeClr val="tx1"/>
                </a:solidFill>
              </a:rPr>
              <a:t> input (</a:t>
            </a:r>
            <a:r>
              <a:rPr lang="es-ES" sz="1400" dirty="0" err="1">
                <a:solidFill>
                  <a:schemeClr val="tx1"/>
                </a:solidFill>
              </a:rPr>
              <a:t>specify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initial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conditions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too</a:t>
            </a:r>
            <a:r>
              <a:rPr lang="es-ES" sz="1400" dirty="0">
                <a:solidFill>
                  <a:schemeClr val="tx1"/>
                </a:solidFill>
              </a:rPr>
              <a:t>), </a:t>
            </a:r>
            <a:r>
              <a:rPr lang="es-ES" sz="1400" dirty="0" err="1">
                <a:solidFill>
                  <a:schemeClr val="tx1"/>
                </a:solidFill>
              </a:rPr>
              <a:t>to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avoid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an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algebraic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loop</a:t>
            </a:r>
            <a:endParaRPr lang="es-ES" sz="1400" dirty="0">
              <a:solidFill>
                <a:schemeClr val="tx1"/>
              </a:solidFill>
            </a:endParaRP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ES" sz="1400" dirty="0" err="1">
                <a:solidFill>
                  <a:schemeClr val="tx1"/>
                </a:solidFill>
              </a:rPr>
              <a:t>Add</a:t>
            </a:r>
            <a:r>
              <a:rPr lang="es-ES" sz="1400" dirty="0">
                <a:solidFill>
                  <a:schemeClr val="tx1"/>
                </a:solidFill>
              </a:rPr>
              <a:t> a </a:t>
            </a:r>
            <a:r>
              <a:rPr lang="es-ES" sz="1400" dirty="0" err="1">
                <a:solidFill>
                  <a:schemeClr val="tx1"/>
                </a:solidFill>
              </a:rPr>
              <a:t>dummy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constant</a:t>
            </a:r>
            <a:r>
              <a:rPr lang="es-ES" sz="1400" dirty="0">
                <a:solidFill>
                  <a:schemeClr val="tx1"/>
                </a:solidFill>
              </a:rPr>
              <a:t> control input</a:t>
            </a: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ES" sz="1400" dirty="0" err="1">
                <a:solidFill>
                  <a:schemeClr val="tx1"/>
                </a:solidFill>
              </a:rPr>
              <a:t>Extract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state</a:t>
            </a:r>
            <a:r>
              <a:rPr lang="es-ES" sz="1400" dirty="0">
                <a:solidFill>
                  <a:schemeClr val="tx1"/>
                </a:solidFill>
              </a:rPr>
              <a:t> and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control input. </a:t>
            </a:r>
            <a:r>
              <a:rPr lang="es-ES" sz="1400" dirty="0" err="1">
                <a:solidFill>
                  <a:schemeClr val="tx1"/>
                </a:solidFill>
              </a:rPr>
              <a:t>Convert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states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into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degrees</a:t>
            </a:r>
            <a:r>
              <a:rPr lang="es-ES" sz="1400" dirty="0">
                <a:solidFill>
                  <a:schemeClr val="tx1"/>
                </a:solidFill>
              </a:rPr>
              <a:t> (</a:t>
            </a:r>
            <a:r>
              <a:rPr lang="es-ES" sz="1400" dirty="0" err="1">
                <a:solidFill>
                  <a:schemeClr val="tx1"/>
                </a:solidFill>
              </a:rPr>
              <a:t>for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visualization</a:t>
            </a:r>
            <a:r>
              <a:rPr lang="es-ES" sz="1400" dirty="0">
                <a:solidFill>
                  <a:schemeClr val="tx1"/>
                </a:solidFill>
              </a:rPr>
              <a:t>), </a:t>
            </a:r>
            <a:r>
              <a:rPr lang="es-ES" sz="1400" dirty="0" err="1">
                <a:solidFill>
                  <a:schemeClr val="tx1"/>
                </a:solidFill>
              </a:rPr>
              <a:t>demux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vector </a:t>
            </a:r>
            <a:r>
              <a:rPr lang="es-ES" sz="1400" dirty="0" err="1">
                <a:solidFill>
                  <a:schemeClr val="tx1"/>
                </a:solidFill>
              </a:rPr>
              <a:t>into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its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three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components</a:t>
            </a:r>
            <a:r>
              <a:rPr lang="es-ES" sz="1400" dirty="0">
                <a:solidFill>
                  <a:schemeClr val="tx1"/>
                </a:solidFill>
              </a:rPr>
              <a:t> and </a:t>
            </a:r>
            <a:r>
              <a:rPr lang="es-ES" sz="1400" dirty="0" err="1">
                <a:solidFill>
                  <a:schemeClr val="tx1"/>
                </a:solidFill>
              </a:rPr>
              <a:t>pass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them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to</a:t>
            </a:r>
            <a:r>
              <a:rPr lang="es-ES" sz="1400" dirty="0">
                <a:solidFill>
                  <a:schemeClr val="tx1"/>
                </a:solidFill>
              </a:rPr>
              <a:t> a </a:t>
            </a:r>
            <a:r>
              <a:rPr lang="es-ES" sz="1400" dirty="0" err="1">
                <a:solidFill>
                  <a:schemeClr val="tx1"/>
                </a:solidFill>
              </a:rPr>
              <a:t>scope</a:t>
            </a:r>
            <a:endParaRPr lang="es-ES" sz="1400" dirty="0">
              <a:solidFill>
                <a:schemeClr val="tx1"/>
              </a:solidFill>
            </a:endParaRP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ES" sz="1400" dirty="0" err="1">
                <a:solidFill>
                  <a:schemeClr val="tx1"/>
                </a:solidFill>
              </a:rPr>
              <a:t>Name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state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components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signals</a:t>
            </a:r>
            <a:r>
              <a:rPr lang="es-ES" sz="1400" dirty="0">
                <a:solidFill>
                  <a:schemeClr val="tx1"/>
                </a:solidFill>
              </a:rPr>
              <a:t> and log </a:t>
            </a:r>
            <a:r>
              <a:rPr lang="es-ES" sz="1400" dirty="0" err="1">
                <a:solidFill>
                  <a:schemeClr val="tx1"/>
                </a:solidFill>
              </a:rPr>
              <a:t>them</a:t>
            </a:r>
            <a:r>
              <a:rPr lang="en-US" sz="1400" dirty="0">
                <a:solidFill>
                  <a:schemeClr val="tx1"/>
                </a:solidFill>
              </a:rPr>
              <a:t> (see next slide)</a:t>
            </a:r>
            <a:endParaRPr lang="es-ES" sz="1400" dirty="0">
              <a:solidFill>
                <a:schemeClr val="tx1"/>
              </a:solidFill>
            </a:endParaRPr>
          </a:p>
        </p:txBody>
      </p:sp>
      <p:sp>
        <p:nvSpPr>
          <p:cNvPr id="13" name="Flecha derecha 12">
            <a:extLst>
              <a:ext uri="{FF2B5EF4-FFF2-40B4-BE49-F238E27FC236}">
                <a16:creationId xmlns:a16="http://schemas.microsoft.com/office/drawing/2014/main" id="{3996E44B-CC23-6023-B3A8-91BC5DD54F0E}"/>
              </a:ext>
            </a:extLst>
          </p:cNvPr>
          <p:cNvSpPr/>
          <p:nvPr/>
        </p:nvSpPr>
        <p:spPr>
          <a:xfrm>
            <a:off x="4456144" y="4941532"/>
            <a:ext cx="398253" cy="16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Flecha derecha 14">
            <a:extLst>
              <a:ext uri="{FF2B5EF4-FFF2-40B4-BE49-F238E27FC236}">
                <a16:creationId xmlns:a16="http://schemas.microsoft.com/office/drawing/2014/main" id="{000B6BDB-D47A-5BEA-D438-97F86858FE14}"/>
              </a:ext>
            </a:extLst>
          </p:cNvPr>
          <p:cNvSpPr/>
          <p:nvPr/>
        </p:nvSpPr>
        <p:spPr>
          <a:xfrm>
            <a:off x="7845006" y="4859628"/>
            <a:ext cx="398253" cy="199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9FADE81-B66B-653A-5296-428FCFA53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608" y="3590047"/>
            <a:ext cx="2915195" cy="286397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893D62D-0313-692D-F1AE-0CAC685E5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738" y="4235568"/>
            <a:ext cx="2439598" cy="144772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DB1CFC0-91D1-8F46-BA9C-325F079A3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4632582"/>
            <a:ext cx="2265632" cy="61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022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209CA-CDF4-634C-477E-7CF81F215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80860CB-6B2F-4F11-0A39-FD927754F5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12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279FA4B-32A4-DC46-DC3A-ABE8FA002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01" y="775663"/>
            <a:ext cx="6515747" cy="585905"/>
          </a:xfrm>
        </p:spPr>
        <p:txBody>
          <a:bodyPr/>
          <a:lstStyle/>
          <a:p>
            <a:r>
              <a:rPr lang="es-ES" dirty="0" err="1"/>
              <a:t>Main</a:t>
            </a:r>
            <a:r>
              <a:rPr lang="es-ES" dirty="0"/>
              <a:t> </a:t>
            </a:r>
            <a:r>
              <a:rPr lang="es-ES" dirty="0" err="1"/>
              <a:t>model</a:t>
            </a:r>
            <a:r>
              <a:rPr lang="es-ES" dirty="0"/>
              <a:t> </a:t>
            </a:r>
            <a:r>
              <a:rPr lang="es-ES" dirty="0" err="1"/>
              <a:t>creation</a:t>
            </a:r>
            <a:r>
              <a:rPr lang="es-ES" dirty="0"/>
              <a:t> III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CA7DBB9-30C2-3115-3B1F-CD0738579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989" y="1220672"/>
            <a:ext cx="6619812" cy="2396020"/>
          </a:xfrm>
          <a:prstGeom prst="rect">
            <a:avLst/>
          </a:prstGeom>
        </p:spPr>
      </p:pic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3FAB9DC1-2AAA-820A-CD85-873D98C7505D}"/>
              </a:ext>
            </a:extLst>
          </p:cNvPr>
          <p:cNvSpPr txBox="1">
            <a:spLocks/>
          </p:cNvSpPr>
          <p:nvPr/>
        </p:nvSpPr>
        <p:spPr>
          <a:xfrm>
            <a:off x="591223" y="3651324"/>
            <a:ext cx="10521344" cy="365126"/>
          </a:xfrm>
          <a:prstGeom prst="rect">
            <a:avLst/>
          </a:prstGeom>
        </p:spPr>
        <p:txBody>
          <a:bodyPr vert="horz" lIns="0" tIns="38100" rIns="76200" bIns="38100" rtlCol="0">
            <a:normAutofit/>
          </a:bodyPr>
          <a:lstStyle>
            <a:lvl1pPr marL="0" indent="0" algn="l" defTabSz="109728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rgbClr val="FF3228"/>
              </a:buClr>
              <a:buFont typeface="Wingdings" panose="05000000000000000000" pitchFamily="2" charset="2"/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 marL="541338" indent="-269875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676766"/>
              </a:buClr>
              <a:buFont typeface="Wingdings" panose="05000000000000000000" pitchFamily="2" charset="2"/>
              <a:buChar char="§"/>
              <a:defRPr sz="220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tx1"/>
                </a:solidFill>
              </a:rPr>
              <a:t>Run a 10 </a:t>
            </a:r>
            <a:r>
              <a:rPr lang="es-ES" sz="1400" dirty="0" err="1">
                <a:solidFill>
                  <a:schemeClr val="tx1"/>
                </a:solidFill>
              </a:rPr>
              <a:t>second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simulation</a:t>
            </a:r>
            <a:r>
              <a:rPr lang="es-ES" sz="1400" dirty="0">
                <a:solidFill>
                  <a:schemeClr val="tx1"/>
                </a:solidFill>
              </a:rPr>
              <a:t> and open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data inspector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F8B5E9E-657E-9CE3-B011-1DAFE842A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012" y="4084659"/>
            <a:ext cx="3517900" cy="1092200"/>
          </a:xfrm>
          <a:prstGeom prst="rect">
            <a:avLst/>
          </a:prstGeom>
        </p:spPr>
      </p:pic>
      <p:sp>
        <p:nvSpPr>
          <p:cNvPr id="12" name="Flecha derecha 11">
            <a:extLst>
              <a:ext uri="{FF2B5EF4-FFF2-40B4-BE49-F238E27FC236}">
                <a16:creationId xmlns:a16="http://schemas.microsoft.com/office/drawing/2014/main" id="{6B8FD812-ECBF-54FB-A433-B01C518CA0D4}"/>
              </a:ext>
            </a:extLst>
          </p:cNvPr>
          <p:cNvSpPr/>
          <p:nvPr/>
        </p:nvSpPr>
        <p:spPr>
          <a:xfrm>
            <a:off x="5413370" y="4495478"/>
            <a:ext cx="398253" cy="16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CA7B7D79-F983-7C55-10F5-A0D0C823E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4534" y="3814807"/>
            <a:ext cx="3938467" cy="2724105"/>
          </a:xfrm>
          <a:prstGeom prst="rect">
            <a:avLst/>
          </a:prstGeom>
        </p:spPr>
      </p:pic>
      <p:sp>
        <p:nvSpPr>
          <p:cNvPr id="16" name="Marcador de texto 4">
            <a:extLst>
              <a:ext uri="{FF2B5EF4-FFF2-40B4-BE49-F238E27FC236}">
                <a16:creationId xmlns:a16="http://schemas.microsoft.com/office/drawing/2014/main" id="{C3907B8C-BB4D-944C-BC66-60A5B590B6E2}"/>
              </a:ext>
            </a:extLst>
          </p:cNvPr>
          <p:cNvSpPr txBox="1">
            <a:spLocks/>
          </p:cNvSpPr>
          <p:nvPr/>
        </p:nvSpPr>
        <p:spPr>
          <a:xfrm>
            <a:off x="591223" y="5386213"/>
            <a:ext cx="5253966" cy="970137"/>
          </a:xfrm>
          <a:prstGeom prst="rect">
            <a:avLst/>
          </a:prstGeom>
        </p:spPr>
        <p:txBody>
          <a:bodyPr vert="horz" lIns="0" tIns="38100" rIns="76200" bIns="38100" rtlCol="0">
            <a:normAutofit fontScale="92500" lnSpcReduction="10000"/>
          </a:bodyPr>
          <a:lstStyle>
            <a:lvl1pPr marL="0" indent="0" algn="l" defTabSz="109728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rgbClr val="FF3228"/>
              </a:buClr>
              <a:buFont typeface="Wingdings" panose="05000000000000000000" pitchFamily="2" charset="2"/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 marL="541338" indent="-269875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676766"/>
              </a:buClr>
              <a:buFont typeface="Wingdings" panose="05000000000000000000" pitchFamily="2" charset="2"/>
              <a:buChar char="§"/>
              <a:defRPr sz="220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tx1"/>
                </a:solidFill>
              </a:rPr>
              <a:t>Play </a:t>
            </a:r>
            <a:r>
              <a:rPr lang="es-ES" sz="1400" dirty="0" err="1">
                <a:solidFill>
                  <a:schemeClr val="tx1"/>
                </a:solidFill>
              </a:rPr>
              <a:t>with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initial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conditions</a:t>
            </a:r>
            <a:r>
              <a:rPr lang="es-ES" sz="1400" dirty="0">
                <a:solidFill>
                  <a:schemeClr val="tx1"/>
                </a:solidFill>
              </a:rPr>
              <a:t> and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dummy</a:t>
            </a:r>
            <a:r>
              <a:rPr lang="es-ES" sz="1400" dirty="0">
                <a:solidFill>
                  <a:schemeClr val="tx1"/>
                </a:solidFill>
              </a:rPr>
              <a:t> control input </a:t>
            </a:r>
            <a:r>
              <a:rPr lang="es-ES" sz="1400" dirty="0" err="1">
                <a:solidFill>
                  <a:schemeClr val="tx1"/>
                </a:solidFill>
              </a:rPr>
              <a:t>to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see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how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state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evolution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changes</a:t>
            </a:r>
            <a:endParaRPr lang="es-ES" sz="1400" dirty="0">
              <a:solidFill>
                <a:schemeClr val="tx1"/>
              </a:solidFill>
            </a:endParaRP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ouputs</a:t>
            </a:r>
            <a:r>
              <a:rPr lang="es-ES" sz="1400" dirty="0">
                <a:solidFill>
                  <a:schemeClr val="tx1"/>
                </a:solidFill>
              </a:rPr>
              <a:t> can </a:t>
            </a:r>
            <a:r>
              <a:rPr lang="es-ES" sz="1400" dirty="0" err="1">
                <a:solidFill>
                  <a:schemeClr val="tx1"/>
                </a:solidFill>
              </a:rPr>
              <a:t>also</a:t>
            </a:r>
            <a:r>
              <a:rPr lang="es-ES" sz="1400" dirty="0">
                <a:solidFill>
                  <a:schemeClr val="tx1"/>
                </a:solidFill>
              </a:rPr>
              <a:t> be </a:t>
            </a:r>
            <a:r>
              <a:rPr lang="es-ES" sz="1400" dirty="0" err="1">
                <a:solidFill>
                  <a:schemeClr val="tx1"/>
                </a:solidFill>
              </a:rPr>
              <a:t>visualized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using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scopes</a:t>
            </a:r>
            <a:r>
              <a:rPr lang="es-ES" sz="1400" dirty="0">
                <a:solidFill>
                  <a:schemeClr val="tx1"/>
                </a:solidFill>
              </a:rPr>
              <a:t> (</a:t>
            </a:r>
            <a:r>
              <a:rPr lang="es-ES" sz="1400" dirty="0" err="1">
                <a:solidFill>
                  <a:schemeClr val="tx1"/>
                </a:solidFill>
              </a:rPr>
              <a:t>name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blocks </a:t>
            </a:r>
            <a:r>
              <a:rPr lang="es-ES" sz="1400" dirty="0" err="1">
                <a:solidFill>
                  <a:schemeClr val="tx1"/>
                </a:solidFill>
              </a:rPr>
              <a:t>if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used</a:t>
            </a:r>
            <a:r>
              <a:rPr lang="es-ES" sz="1400" dirty="0">
                <a:solidFill>
                  <a:schemeClr val="tx1"/>
                </a:solidFill>
              </a:rPr>
              <a:t>, in </a:t>
            </a:r>
            <a:r>
              <a:rPr lang="es-ES" sz="1400" dirty="0" err="1">
                <a:solidFill>
                  <a:schemeClr val="tx1"/>
                </a:solidFill>
              </a:rPr>
              <a:t>order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to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identify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signals</a:t>
            </a:r>
            <a:r>
              <a:rPr lang="es-ES" sz="1400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57563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78DCB-1394-5C8C-3721-9C904002F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383FB59-443A-6E6D-3B86-2001A7DBB1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13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94C21AF-5C5F-1E3D-003E-45375CFEC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01" y="775663"/>
            <a:ext cx="6515747" cy="585905"/>
          </a:xfrm>
        </p:spPr>
        <p:txBody>
          <a:bodyPr/>
          <a:lstStyle/>
          <a:p>
            <a:r>
              <a:rPr lang="es-ES" dirty="0" err="1"/>
              <a:t>External</a:t>
            </a:r>
            <a:r>
              <a:rPr lang="es-ES" dirty="0"/>
              <a:t> </a:t>
            </a:r>
            <a:r>
              <a:rPr lang="es-ES" dirty="0" err="1"/>
              <a:t>disturbances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0562DDF3-FEE3-510C-1BFA-01E05C9F180B}"/>
                  </a:ext>
                </a:extLst>
              </p:cNvPr>
              <p:cNvSpPr txBox="1"/>
              <p:nvPr/>
            </p:nvSpPr>
            <p:spPr>
              <a:xfrm>
                <a:off x="4105022" y="2096399"/>
                <a:ext cx="3486223" cy="1275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ES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⃗"/>
                              <m:ctrlPr>
                                <a:rPr lang="es-E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acc>
                      <m:r>
                        <a:rPr lang="es-ES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s-E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̇"/>
                                  <m:ctrlPr>
                                    <a:rPr lang="es-E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sz="1200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̈"/>
                                  <m:ctrlPr>
                                    <a:rPr lang="es-E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sz="1200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acc>
                            </m:e>
                            <m:e>
                              <m:sSub>
                                <m:sSubPr>
                                  <m:ctrlPr>
                                    <a:rPr lang="es-E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s-E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ES" sz="1200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s-ES" sz="1200" b="0" i="1" smtClean="0">
                                      <a:latin typeface="Cambria Math" panose="02040503050406030204" pitchFamily="18" charset="0"/>
                                    </a:rPr>
                                    <m:t>𝑅𝑊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s-E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es-E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eqArr>
                                <m:eqArrPr>
                                  <m:ctrlPr>
                                    <a:rPr lang="es-E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s-ES" sz="1200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e>
                                  <m:r>
                                    <a:rPr lang="es-ES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s-E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s-E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lang="es-E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𝑅𝑊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s-E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lang="es-E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  <m:r>
                                            <a:rPr lang="es-E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s-ES" sz="12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s-E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s-E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lang="es-E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𝑒𝑥𝑡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s-E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lang="es-E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s-E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  <m:e>
                                  <m:f>
                                    <m:fPr>
                                      <m:ctrlPr>
                                        <a:rPr lang="es-E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s-E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lang="es-E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𝑅𝑊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s-ES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lang="es-E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𝑅𝑊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eqArr>
                            </m:e>
                          </m:acc>
                        </m:e>
                      </m:d>
                    </m:oMath>
                  </m:oMathPara>
                </a14:m>
                <a:endParaRPr lang="es-ES" sz="1400" b="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0562DDF3-FEE3-510C-1BFA-01E05C9F1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022" y="2096399"/>
                <a:ext cx="3486223" cy="1275349"/>
              </a:xfrm>
              <a:prstGeom prst="rect">
                <a:avLst/>
              </a:prstGeom>
              <a:blipFill>
                <a:blip r:embed="rId2"/>
                <a:stretch>
                  <a:fillRect t="-9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Marcador de texto 4">
                <a:extLst>
                  <a:ext uri="{FF2B5EF4-FFF2-40B4-BE49-F238E27FC236}">
                    <a16:creationId xmlns:a16="http://schemas.microsoft.com/office/drawing/2014/main" id="{80DDE7CA-A13F-EF38-F7E6-AA521922B6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6224" y="1719304"/>
                <a:ext cx="10521344" cy="497685"/>
              </a:xfrm>
              <a:prstGeom prst="rect">
                <a:avLst/>
              </a:prstGeom>
            </p:spPr>
            <p:txBody>
              <a:bodyPr vert="horz" lIns="0" tIns="38100" rIns="76200" bIns="38100" rtlCol="0">
                <a:normAutofit/>
              </a:bodyPr>
              <a:lstStyle>
                <a:lvl1pPr marL="0" indent="0" algn="l" defTabSz="109728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rgbClr val="FF3228"/>
                  </a:buClr>
                  <a:buFont typeface="Wingdings" panose="05000000000000000000" pitchFamily="2" charset="2"/>
                  <a:buNone/>
                  <a:defRPr lang="es-ES" sz="2400" b="1" kern="1200" dirty="0">
                    <a:solidFill>
                      <a:srgbClr val="1E1E1E"/>
                    </a:solidFill>
                    <a:latin typeface="Century Gothic" panose="020B0502020202020204" pitchFamily="34" charset="0"/>
                    <a:ea typeface="+mj-ea"/>
                    <a:cs typeface="+mj-cs"/>
                  </a:defRPr>
                </a:lvl1pPr>
                <a:lvl2pPr marL="541338" indent="-269875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rgbClr val="676766"/>
                  </a:buClr>
                  <a:buFont typeface="Wingdings" panose="05000000000000000000" pitchFamily="2" charset="2"/>
                  <a:buChar char="§"/>
                  <a:defRPr sz="2200" kern="1200">
                    <a:solidFill>
                      <a:srgbClr val="7D7878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2pPr>
                <a:lvl3pPr marL="137160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rgbClr val="1E1E1E"/>
                    </a:solidFill>
                    <a:latin typeface="+mn-lt"/>
                    <a:ea typeface="+mn-ea"/>
                    <a:cs typeface="+mn-cs"/>
                  </a:defRPr>
                </a:lvl3pPr>
                <a:lvl4pPr marL="192024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rgbClr val="1E1E1E"/>
                    </a:solidFill>
                    <a:latin typeface="+mn-lt"/>
                    <a:ea typeface="+mn-ea"/>
                    <a:cs typeface="+mn-cs"/>
                  </a:defRPr>
                </a:lvl4pPr>
                <a:lvl5pPr marL="246888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rgbClr val="1E1E1E"/>
                    </a:solidFill>
                    <a:latin typeface="+mn-lt"/>
                    <a:ea typeface="+mn-ea"/>
                    <a:cs typeface="+mn-cs"/>
                  </a:defRPr>
                </a:lvl5pPr>
                <a:lvl6pPr marL="301752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6616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11480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63440" indent="-274320" algn="l" defTabSz="109728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sz="21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58215" lvl="1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s-ES" sz="1400" dirty="0">
                    <a:solidFill>
                      <a:schemeClr val="tx1"/>
                    </a:solidFill>
                  </a:rPr>
                  <a:t>If </a:t>
                </a:r>
                <a:r>
                  <a:rPr lang="es-ES" sz="1400" dirty="0" err="1">
                    <a:solidFill>
                      <a:schemeClr val="tx1"/>
                    </a:solidFill>
                  </a:rPr>
                  <a:t>we</a:t>
                </a:r>
                <a:r>
                  <a:rPr lang="es-ES" sz="1400" dirty="0">
                    <a:solidFill>
                      <a:schemeClr val="tx1"/>
                    </a:solidFill>
                  </a:rPr>
                  <a:t> </a:t>
                </a:r>
                <a:r>
                  <a:rPr lang="es-ES" sz="1400" dirty="0" err="1">
                    <a:solidFill>
                      <a:schemeClr val="tx1"/>
                    </a:solidFill>
                  </a:rPr>
                  <a:t>add</a:t>
                </a:r>
                <a:r>
                  <a:rPr lang="es-ES" sz="1400" dirty="0">
                    <a:solidFill>
                      <a:schemeClr val="tx1"/>
                    </a:solidFill>
                  </a:rPr>
                  <a:t> </a:t>
                </a:r>
                <a:r>
                  <a:rPr lang="es-ES" sz="1400" dirty="0" err="1">
                    <a:solidFill>
                      <a:schemeClr val="tx1"/>
                    </a:solidFill>
                  </a:rPr>
                  <a:t>external</a:t>
                </a:r>
                <a:r>
                  <a:rPr lang="es-ES" sz="1400" dirty="0">
                    <a:solidFill>
                      <a:schemeClr val="tx1"/>
                    </a:solidFill>
                  </a:rPr>
                  <a:t> torque </a:t>
                </a:r>
                <a:r>
                  <a:rPr lang="es-ES" sz="1400" dirty="0" err="1">
                    <a:solidFill>
                      <a:schemeClr val="tx1"/>
                    </a:solidFill>
                  </a:rPr>
                  <a:t>disturbances</a:t>
                </a:r>
                <a:r>
                  <a:rPr lang="es-ES" sz="1400" dirty="0">
                    <a:solidFill>
                      <a:schemeClr val="tx1"/>
                    </a:solidFill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𝑒𝑥𝑡</m:t>
                        </m:r>
                      </m:sub>
                    </m:sSub>
                  </m:oMath>
                </a14:m>
                <a:r>
                  <a:rPr lang="es-ES" sz="1400" dirty="0">
                    <a:solidFill>
                      <a:schemeClr val="tx1"/>
                    </a:solidFill>
                  </a:rPr>
                  <a:t>), </a:t>
                </a:r>
                <a:r>
                  <a:rPr lang="es-ES" sz="1400" dirty="0" err="1">
                    <a:solidFill>
                      <a:schemeClr val="tx1"/>
                    </a:solidFill>
                  </a:rPr>
                  <a:t>the</a:t>
                </a:r>
                <a:r>
                  <a:rPr lang="es-ES" sz="1400" dirty="0">
                    <a:solidFill>
                      <a:schemeClr val="tx1"/>
                    </a:solidFill>
                  </a:rPr>
                  <a:t> </a:t>
                </a:r>
                <a:r>
                  <a:rPr lang="es-ES" sz="1400" dirty="0" err="1">
                    <a:solidFill>
                      <a:schemeClr val="tx1"/>
                    </a:solidFill>
                  </a:rPr>
                  <a:t>updated</a:t>
                </a:r>
                <a:r>
                  <a:rPr lang="es-ES" sz="1400" dirty="0">
                    <a:solidFill>
                      <a:schemeClr val="tx1"/>
                    </a:solidFill>
                  </a:rPr>
                  <a:t> </a:t>
                </a:r>
                <a:r>
                  <a:rPr lang="es-ES" sz="1400" dirty="0" err="1">
                    <a:solidFill>
                      <a:schemeClr val="tx1"/>
                    </a:solidFill>
                  </a:rPr>
                  <a:t>dynamics</a:t>
                </a:r>
                <a:r>
                  <a:rPr lang="es-ES" sz="1400" dirty="0">
                    <a:solidFill>
                      <a:schemeClr val="tx1"/>
                    </a:solidFill>
                  </a:rPr>
                  <a:t> are: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pPr marL="358215" lvl="1" indent="-238115" algn="just">
                  <a:lnSpc>
                    <a:spcPct val="11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Marcador de texto 4">
                <a:extLst>
                  <a:ext uri="{FF2B5EF4-FFF2-40B4-BE49-F238E27FC236}">
                    <a16:creationId xmlns:a16="http://schemas.microsoft.com/office/drawing/2014/main" id="{80DDE7CA-A13F-EF38-F7E6-AA521922B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224" y="1719304"/>
                <a:ext cx="10521344" cy="497685"/>
              </a:xfrm>
              <a:prstGeom prst="rect">
                <a:avLst/>
              </a:prstGeom>
              <a:blipFill>
                <a:blip r:embed="rId3"/>
                <a:stretch>
                  <a:fillRect t="-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4B2F1F14-BF2E-571E-18CF-595001DC5773}"/>
              </a:ext>
            </a:extLst>
          </p:cNvPr>
          <p:cNvSpPr txBox="1">
            <a:spLocks/>
          </p:cNvSpPr>
          <p:nvPr/>
        </p:nvSpPr>
        <p:spPr>
          <a:xfrm>
            <a:off x="636224" y="3245827"/>
            <a:ext cx="10521344" cy="1006995"/>
          </a:xfrm>
          <a:prstGeom prst="rect">
            <a:avLst/>
          </a:prstGeom>
        </p:spPr>
        <p:txBody>
          <a:bodyPr vert="horz" lIns="0" tIns="38100" rIns="76200" bIns="38100" rtlCol="0">
            <a:normAutofit fontScale="92500" lnSpcReduction="20000"/>
          </a:bodyPr>
          <a:lstStyle>
            <a:lvl1pPr marL="0" indent="0" algn="l" defTabSz="109728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rgbClr val="FF3228"/>
              </a:buClr>
              <a:buFont typeface="Wingdings" panose="05000000000000000000" pitchFamily="2" charset="2"/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 marL="541338" indent="-269875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676766"/>
              </a:buClr>
              <a:buFont typeface="Wingdings" panose="05000000000000000000" pitchFamily="2" charset="2"/>
              <a:buChar char="§"/>
              <a:defRPr sz="220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ES" sz="1400" dirty="0" err="1">
                <a:solidFill>
                  <a:schemeClr val="tx1"/>
                </a:solidFill>
              </a:rPr>
              <a:t>Add</a:t>
            </a:r>
            <a:r>
              <a:rPr lang="es-ES" sz="1400" dirty="0">
                <a:solidFill>
                  <a:schemeClr val="tx1"/>
                </a:solidFill>
              </a:rPr>
              <a:t> a new input (</a:t>
            </a:r>
            <a:r>
              <a:rPr lang="es-ES" sz="1400" i="1" dirty="0" err="1">
                <a:solidFill>
                  <a:schemeClr val="tx1"/>
                </a:solidFill>
              </a:rPr>
              <a:t>m_ext</a:t>
            </a:r>
            <a:r>
              <a:rPr lang="es-ES" sz="1400" dirty="0">
                <a:solidFill>
                  <a:schemeClr val="tx1"/>
                </a:solidFill>
              </a:rPr>
              <a:t>) </a:t>
            </a:r>
            <a:r>
              <a:rPr lang="es-ES" sz="1400" dirty="0" err="1">
                <a:solidFill>
                  <a:schemeClr val="tx1"/>
                </a:solidFill>
              </a:rPr>
              <a:t>to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dynamics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subsystem</a:t>
            </a:r>
            <a:r>
              <a:rPr lang="es-ES" sz="1400" dirty="0">
                <a:solidFill>
                  <a:schemeClr val="tx1"/>
                </a:solidFill>
              </a:rPr>
              <a:t> and </a:t>
            </a:r>
            <a:r>
              <a:rPr lang="es-ES" sz="1400" dirty="0" err="1">
                <a:solidFill>
                  <a:schemeClr val="tx1"/>
                </a:solidFill>
              </a:rPr>
              <a:t>update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dynamics</a:t>
            </a:r>
            <a:endParaRPr lang="es-ES" sz="1400" dirty="0">
              <a:solidFill>
                <a:schemeClr val="tx1"/>
              </a:solidFill>
            </a:endParaRP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ES" sz="1400" dirty="0" err="1">
                <a:solidFill>
                  <a:schemeClr val="tx1"/>
                </a:solidFill>
              </a:rPr>
              <a:t>Add</a:t>
            </a:r>
            <a:r>
              <a:rPr lang="es-ES" sz="1400" dirty="0">
                <a:solidFill>
                  <a:schemeClr val="tx1"/>
                </a:solidFill>
              </a:rPr>
              <a:t> a band </a:t>
            </a:r>
            <a:r>
              <a:rPr lang="es-ES" sz="1400" dirty="0" err="1">
                <a:solidFill>
                  <a:schemeClr val="tx1"/>
                </a:solidFill>
              </a:rPr>
              <a:t>limited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white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noise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source</a:t>
            </a:r>
            <a:r>
              <a:rPr lang="es-ES" sz="1400" dirty="0">
                <a:solidFill>
                  <a:schemeClr val="tx1"/>
                </a:solidFill>
              </a:rPr>
              <a:t> in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main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model</a:t>
            </a:r>
            <a:r>
              <a:rPr lang="es-ES" sz="1400" dirty="0">
                <a:solidFill>
                  <a:schemeClr val="tx1"/>
                </a:solidFill>
              </a:rPr>
              <a:t> and </a:t>
            </a:r>
            <a:r>
              <a:rPr lang="es-ES" sz="1400" dirty="0" err="1">
                <a:solidFill>
                  <a:schemeClr val="tx1"/>
                </a:solidFill>
              </a:rPr>
              <a:t>scale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it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down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using</a:t>
            </a:r>
            <a:r>
              <a:rPr lang="es-ES" sz="1400" dirty="0">
                <a:solidFill>
                  <a:schemeClr val="tx1"/>
                </a:solidFill>
              </a:rPr>
              <a:t> a </a:t>
            </a:r>
            <a:r>
              <a:rPr lang="es-ES" sz="1400" dirty="0" err="1">
                <a:solidFill>
                  <a:schemeClr val="tx1"/>
                </a:solidFill>
              </a:rPr>
              <a:t>gain</a:t>
            </a:r>
            <a:r>
              <a:rPr lang="es-ES" sz="1400" dirty="0">
                <a:solidFill>
                  <a:schemeClr val="tx1"/>
                </a:solidFill>
              </a:rPr>
              <a:t> block (</a:t>
            </a:r>
            <a:r>
              <a:rPr lang="es-ES" sz="1400" dirty="0" err="1">
                <a:solidFill>
                  <a:schemeClr val="tx1"/>
                </a:solidFill>
              </a:rPr>
              <a:t>to</a:t>
            </a:r>
            <a:r>
              <a:rPr lang="es-ES" sz="1400" dirty="0">
                <a:solidFill>
                  <a:schemeClr val="tx1"/>
                </a:solidFill>
              </a:rPr>
              <a:t> be </a:t>
            </a:r>
            <a:r>
              <a:rPr lang="es-ES" sz="1400" dirty="0" err="1">
                <a:solidFill>
                  <a:schemeClr val="tx1"/>
                </a:solidFill>
              </a:rPr>
              <a:t>tuned</a:t>
            </a:r>
            <a:r>
              <a:rPr lang="es-ES" sz="1400" dirty="0">
                <a:solidFill>
                  <a:schemeClr val="tx1"/>
                </a:solidFill>
              </a:rPr>
              <a:t>), </a:t>
            </a:r>
            <a:r>
              <a:rPr lang="es-ES" sz="1400" dirty="0" err="1">
                <a:solidFill>
                  <a:schemeClr val="tx1"/>
                </a:solidFill>
              </a:rPr>
              <a:t>then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feed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it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to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dynamics</a:t>
            </a:r>
            <a:endParaRPr lang="es-ES" sz="1400" dirty="0">
              <a:solidFill>
                <a:schemeClr val="tx1"/>
              </a:solidFill>
            </a:endParaRP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tx1"/>
                </a:solidFill>
              </a:rPr>
              <a:t>Log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external</a:t>
            </a:r>
            <a:r>
              <a:rPr lang="es-ES" sz="1400" dirty="0">
                <a:solidFill>
                  <a:schemeClr val="tx1"/>
                </a:solidFill>
              </a:rPr>
              <a:t> torque </a:t>
            </a:r>
            <a:r>
              <a:rPr lang="es-ES" sz="1400" dirty="0" err="1">
                <a:solidFill>
                  <a:schemeClr val="tx1"/>
                </a:solidFill>
              </a:rPr>
              <a:t>signal</a:t>
            </a:r>
            <a:endParaRPr lang="es-ES" sz="1400" dirty="0">
              <a:solidFill>
                <a:schemeClr val="tx1"/>
              </a:solidFill>
            </a:endParaRPr>
          </a:p>
          <a:p>
            <a:pPr marL="120100" lvl="1" indent="0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None/>
            </a:pP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4155747-BAAB-1C01-B04A-8FB25B4A92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524" y="4455118"/>
            <a:ext cx="3291003" cy="190123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7414A91-76C2-3E65-6181-AD41853F67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3853" y="4732901"/>
            <a:ext cx="2156891" cy="1781780"/>
          </a:xfrm>
          <a:prstGeom prst="rect">
            <a:avLst/>
          </a:prstGeom>
        </p:spPr>
      </p:pic>
      <p:sp>
        <p:nvSpPr>
          <p:cNvPr id="7" name="Flecha derecha 6">
            <a:extLst>
              <a:ext uri="{FF2B5EF4-FFF2-40B4-BE49-F238E27FC236}">
                <a16:creationId xmlns:a16="http://schemas.microsoft.com/office/drawing/2014/main" id="{C20D4576-89C3-9111-8457-18D23A2F208B}"/>
              </a:ext>
            </a:extLst>
          </p:cNvPr>
          <p:cNvSpPr/>
          <p:nvPr/>
        </p:nvSpPr>
        <p:spPr>
          <a:xfrm>
            <a:off x="3706769" y="5179931"/>
            <a:ext cx="398253" cy="16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Flecha derecha 7">
            <a:extLst>
              <a:ext uri="{FF2B5EF4-FFF2-40B4-BE49-F238E27FC236}">
                <a16:creationId xmlns:a16="http://schemas.microsoft.com/office/drawing/2014/main" id="{D8D2C27C-0A1C-6C49-E8A1-771852458316}"/>
              </a:ext>
            </a:extLst>
          </p:cNvPr>
          <p:cNvSpPr/>
          <p:nvPr/>
        </p:nvSpPr>
        <p:spPr>
          <a:xfrm>
            <a:off x="6455110" y="5179931"/>
            <a:ext cx="398253" cy="16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9D455F7-4158-C7B0-0294-7D541D27A9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9654" y="4455118"/>
            <a:ext cx="4606364" cy="168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555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F194A-7A73-2C45-74CF-5876B81A0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8266C9A-0A23-EEC4-454F-A1700E62B6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14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7448643-E819-AD10-E530-C70644BD8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01" y="775663"/>
            <a:ext cx="6515747" cy="585905"/>
          </a:xfrm>
        </p:spPr>
        <p:txBody>
          <a:bodyPr/>
          <a:lstStyle/>
          <a:p>
            <a:r>
              <a:rPr lang="es-ES" dirty="0"/>
              <a:t>PID control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B1C1F63-CC36-8BEC-78AF-D55499BCD971}"/>
                  </a:ext>
                </a:extLst>
              </p:cNvPr>
              <p:cNvSpPr txBox="1"/>
              <p:nvPr/>
            </p:nvSpPr>
            <p:spPr>
              <a:xfrm>
                <a:off x="3523757" y="4031966"/>
                <a:ext cx="5144485" cy="10842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𝐸𝑟𝑟𝑜𝑟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𝑑𝐸𝑟𝑟𝑜𝑟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𝐸𝑟𝑟𝑜𝑟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s-ES" sz="2400" b="0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B1C1F63-CC36-8BEC-78AF-D55499BCD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757" y="4031966"/>
                <a:ext cx="5144485" cy="1084271"/>
              </a:xfrm>
              <a:prstGeom prst="rect">
                <a:avLst/>
              </a:prstGeom>
              <a:blipFill>
                <a:blip r:embed="rId2"/>
                <a:stretch>
                  <a:fillRect t="-115116" b="-1360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Marcador de texto 4">
            <a:extLst>
              <a:ext uri="{FF2B5EF4-FFF2-40B4-BE49-F238E27FC236}">
                <a16:creationId xmlns:a16="http://schemas.microsoft.com/office/drawing/2014/main" id="{CFC79C4F-DD21-3D05-5A7C-9D238256B549}"/>
              </a:ext>
            </a:extLst>
          </p:cNvPr>
          <p:cNvSpPr txBox="1">
            <a:spLocks/>
          </p:cNvSpPr>
          <p:nvPr/>
        </p:nvSpPr>
        <p:spPr>
          <a:xfrm>
            <a:off x="636224" y="1719304"/>
            <a:ext cx="10521344" cy="1424512"/>
          </a:xfrm>
          <a:prstGeom prst="rect">
            <a:avLst/>
          </a:prstGeom>
        </p:spPr>
        <p:txBody>
          <a:bodyPr vert="horz" lIns="0" tIns="38100" rIns="76200" bIns="38100" rtlCol="0">
            <a:normAutofit fontScale="92500"/>
          </a:bodyPr>
          <a:lstStyle>
            <a:lvl1pPr marL="0" indent="0" algn="l" defTabSz="109728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rgbClr val="FF3228"/>
              </a:buClr>
              <a:buFont typeface="Wingdings" panose="05000000000000000000" pitchFamily="2" charset="2"/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 marL="541338" indent="-269875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676766"/>
              </a:buClr>
              <a:buFont typeface="Wingdings" panose="05000000000000000000" pitchFamily="2" charset="2"/>
              <a:buChar char="§"/>
              <a:defRPr sz="220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tx1"/>
                </a:solidFill>
              </a:rPr>
              <a:t>A PID (</a:t>
            </a:r>
            <a:r>
              <a:rPr lang="es-ES" sz="1400" dirty="0" err="1">
                <a:solidFill>
                  <a:schemeClr val="tx1"/>
                </a:solidFill>
              </a:rPr>
              <a:t>Proportional</a:t>
            </a:r>
            <a:r>
              <a:rPr lang="es-ES" sz="1400" dirty="0">
                <a:solidFill>
                  <a:schemeClr val="tx1"/>
                </a:solidFill>
              </a:rPr>
              <a:t>-Integral-Derivative) </a:t>
            </a:r>
            <a:r>
              <a:rPr lang="es-ES" sz="1400" dirty="0" err="1">
                <a:solidFill>
                  <a:schemeClr val="tx1"/>
                </a:solidFill>
              </a:rPr>
              <a:t>controller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is</a:t>
            </a:r>
            <a:r>
              <a:rPr lang="es-ES" sz="1400" dirty="0">
                <a:solidFill>
                  <a:schemeClr val="tx1"/>
                </a:solidFill>
              </a:rPr>
              <a:t> a </a:t>
            </a:r>
            <a:r>
              <a:rPr lang="es-ES" sz="1400" dirty="0" err="1">
                <a:solidFill>
                  <a:schemeClr val="tx1"/>
                </a:solidFill>
              </a:rPr>
              <a:t>feedback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compensator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that</a:t>
            </a:r>
            <a:r>
              <a:rPr lang="es-ES" sz="1400" dirty="0">
                <a:solidFill>
                  <a:schemeClr val="tx1"/>
                </a:solidFill>
              </a:rPr>
              <a:t> produces a control output </a:t>
            </a:r>
            <a:r>
              <a:rPr lang="es-ES" sz="1400" dirty="0" err="1">
                <a:solidFill>
                  <a:schemeClr val="tx1"/>
                </a:solidFill>
              </a:rPr>
              <a:t>based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on</a:t>
            </a:r>
            <a:r>
              <a:rPr lang="es-ES" sz="1400" dirty="0">
                <a:solidFill>
                  <a:schemeClr val="tx1"/>
                </a:solidFill>
              </a:rPr>
              <a:t>:</a:t>
            </a: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s-ES" sz="1600" dirty="0" err="1">
                <a:solidFill>
                  <a:schemeClr val="tx1"/>
                </a:solidFill>
              </a:rPr>
              <a:t>Current</a:t>
            </a:r>
            <a:r>
              <a:rPr lang="es-ES" sz="1600" dirty="0">
                <a:solidFill>
                  <a:schemeClr val="tx1"/>
                </a:solidFill>
              </a:rPr>
              <a:t> tracking error</a:t>
            </a: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s-ES" sz="1600" dirty="0">
                <a:solidFill>
                  <a:schemeClr val="tx1"/>
                </a:solidFill>
              </a:rPr>
              <a:t>Time derivative </a:t>
            </a:r>
            <a:r>
              <a:rPr lang="es-ES" sz="1600" dirty="0" err="1">
                <a:solidFill>
                  <a:schemeClr val="tx1"/>
                </a:solidFill>
              </a:rPr>
              <a:t>of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the</a:t>
            </a:r>
            <a:r>
              <a:rPr lang="es-ES" sz="1600" dirty="0">
                <a:solidFill>
                  <a:schemeClr val="tx1"/>
                </a:solidFill>
              </a:rPr>
              <a:t> tracking error</a:t>
            </a: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s-ES" sz="1600" dirty="0">
                <a:solidFill>
                  <a:schemeClr val="tx1"/>
                </a:solidFill>
              </a:rPr>
              <a:t>Integral </a:t>
            </a:r>
            <a:r>
              <a:rPr lang="es-ES" sz="1600" dirty="0" err="1">
                <a:solidFill>
                  <a:schemeClr val="tx1"/>
                </a:solidFill>
              </a:rPr>
              <a:t>of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the</a:t>
            </a:r>
            <a:r>
              <a:rPr lang="es-ES" sz="1600" dirty="0">
                <a:solidFill>
                  <a:schemeClr val="tx1"/>
                </a:solidFill>
              </a:rPr>
              <a:t> tracking error</a:t>
            </a:r>
          </a:p>
          <a:p>
            <a:pPr marL="120100" lvl="1" indent="0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120100" lvl="1" indent="0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None/>
            </a:pP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2770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F36B4-DBF4-9638-70A2-138F06A42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AE954AC6-0D0A-746C-3BA6-5310F8E8B8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15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7855820-6893-A6CC-CA67-E88D07001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01" y="775663"/>
            <a:ext cx="7185091" cy="585905"/>
          </a:xfrm>
        </p:spPr>
        <p:txBody>
          <a:bodyPr/>
          <a:lstStyle/>
          <a:p>
            <a:r>
              <a:rPr lang="es-ES" dirty="0"/>
              <a:t>PID </a:t>
            </a:r>
            <a:r>
              <a:rPr lang="es-ES" dirty="0" err="1"/>
              <a:t>controller</a:t>
            </a:r>
            <a:r>
              <a:rPr lang="es-ES" dirty="0"/>
              <a:t> </a:t>
            </a:r>
            <a:r>
              <a:rPr lang="es-ES" dirty="0" err="1"/>
              <a:t>implementation</a:t>
            </a:r>
            <a:r>
              <a:rPr lang="es-ES" dirty="0"/>
              <a:t> I</a:t>
            </a:r>
          </a:p>
        </p:txBody>
      </p:sp>
      <p:sp>
        <p:nvSpPr>
          <p:cNvPr id="9" name="Marcador de texto 4">
            <a:extLst>
              <a:ext uri="{FF2B5EF4-FFF2-40B4-BE49-F238E27FC236}">
                <a16:creationId xmlns:a16="http://schemas.microsoft.com/office/drawing/2014/main" id="{C2C81F35-0344-B041-AC76-1E84BE60870C}"/>
              </a:ext>
            </a:extLst>
          </p:cNvPr>
          <p:cNvSpPr txBox="1">
            <a:spLocks/>
          </p:cNvSpPr>
          <p:nvPr/>
        </p:nvSpPr>
        <p:spPr>
          <a:xfrm>
            <a:off x="645016" y="1457776"/>
            <a:ext cx="10521344" cy="2199823"/>
          </a:xfrm>
          <a:prstGeom prst="rect">
            <a:avLst/>
          </a:prstGeom>
        </p:spPr>
        <p:txBody>
          <a:bodyPr vert="horz" lIns="0" tIns="38100" rIns="76200" bIns="38100" rtlCol="0">
            <a:normAutofit fontScale="92500"/>
          </a:bodyPr>
          <a:lstStyle>
            <a:lvl1pPr marL="0" indent="0" algn="l" defTabSz="109728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rgbClr val="FF3228"/>
              </a:buClr>
              <a:buFont typeface="Wingdings" panose="05000000000000000000" pitchFamily="2" charset="2"/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 marL="541338" indent="-269875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676766"/>
              </a:buClr>
              <a:buFont typeface="Wingdings" panose="05000000000000000000" pitchFamily="2" charset="2"/>
              <a:buChar char="§"/>
              <a:defRPr sz="220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ES" sz="1400" dirty="0" err="1">
                <a:solidFill>
                  <a:schemeClr val="tx1"/>
                </a:solidFill>
              </a:rPr>
              <a:t>We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need</a:t>
            </a:r>
            <a:r>
              <a:rPr lang="es-ES" sz="1400" dirty="0">
                <a:solidFill>
                  <a:schemeClr val="tx1"/>
                </a:solidFill>
              </a:rPr>
              <a:t> a </a:t>
            </a:r>
            <a:r>
              <a:rPr lang="es-ES" sz="1400" dirty="0" err="1">
                <a:solidFill>
                  <a:schemeClr val="tx1"/>
                </a:solidFill>
              </a:rPr>
              <a:t>reference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signal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for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controller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to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track</a:t>
            </a:r>
            <a:endParaRPr lang="es-ES" sz="1400" dirty="0">
              <a:solidFill>
                <a:schemeClr val="tx1"/>
              </a:solidFill>
            </a:endParaRPr>
          </a:p>
          <a:p>
            <a:pPr marL="1188477" lvl="2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s-ES" sz="1600" dirty="0" err="1">
                <a:solidFill>
                  <a:schemeClr val="tx1"/>
                </a:solidFill>
              </a:rPr>
              <a:t>Assume</a:t>
            </a:r>
            <a:r>
              <a:rPr lang="es-ES" sz="1600" dirty="0">
                <a:solidFill>
                  <a:schemeClr val="tx1"/>
                </a:solidFill>
              </a:rPr>
              <a:t> a GEO </a:t>
            </a:r>
            <a:r>
              <a:rPr lang="es-ES" sz="1600" dirty="0" err="1">
                <a:solidFill>
                  <a:schemeClr val="tx1"/>
                </a:solidFill>
              </a:rPr>
              <a:t>Earth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Observation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satellite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that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needs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to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point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towards</a:t>
            </a:r>
            <a:r>
              <a:rPr lang="es-ES" sz="1600" dirty="0">
                <a:solidFill>
                  <a:schemeClr val="tx1"/>
                </a:solidFill>
              </a:rPr>
              <a:t> a </a:t>
            </a:r>
            <a:r>
              <a:rPr lang="es-ES" sz="1600" dirty="0" err="1">
                <a:solidFill>
                  <a:schemeClr val="tx1"/>
                </a:solidFill>
              </a:rPr>
              <a:t>certain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point</a:t>
            </a:r>
            <a:r>
              <a:rPr lang="es-ES" sz="1600" dirty="0">
                <a:solidFill>
                  <a:schemeClr val="tx1"/>
                </a:solidFill>
              </a:rPr>
              <a:t> in </a:t>
            </a:r>
            <a:r>
              <a:rPr lang="es-ES" sz="1600" dirty="0" err="1">
                <a:solidFill>
                  <a:schemeClr val="tx1"/>
                </a:solidFill>
              </a:rPr>
              <a:t>the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Earth’s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equator</a:t>
            </a:r>
            <a:r>
              <a:rPr lang="es-ES" sz="1600" dirty="0">
                <a:solidFill>
                  <a:schemeClr val="tx1"/>
                </a:solidFill>
              </a:rPr>
              <a:t>, </a:t>
            </a:r>
            <a:r>
              <a:rPr lang="es-ES" sz="1600" dirty="0" err="1">
                <a:solidFill>
                  <a:schemeClr val="tx1"/>
                </a:solidFill>
              </a:rPr>
              <a:t>the</a:t>
            </a:r>
            <a:r>
              <a:rPr lang="es-ES" sz="1600" dirty="0">
                <a:solidFill>
                  <a:schemeClr val="tx1"/>
                </a:solidFill>
              </a:rPr>
              <a:t> angular </a:t>
            </a:r>
            <a:r>
              <a:rPr lang="es-ES" sz="1600" dirty="0" err="1">
                <a:solidFill>
                  <a:schemeClr val="tx1"/>
                </a:solidFill>
              </a:rPr>
              <a:t>reference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will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change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with</a:t>
            </a:r>
            <a:r>
              <a:rPr lang="es-ES" sz="1600" dirty="0">
                <a:solidFill>
                  <a:schemeClr val="tx1"/>
                </a:solidFill>
              </a:rPr>
              <a:t> a </a:t>
            </a:r>
            <a:r>
              <a:rPr lang="es-ES" sz="1600" dirty="0" err="1">
                <a:solidFill>
                  <a:schemeClr val="tx1"/>
                </a:solidFill>
              </a:rPr>
              <a:t>rate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of</a:t>
            </a:r>
            <a:r>
              <a:rPr lang="es-ES" sz="1600" dirty="0">
                <a:solidFill>
                  <a:schemeClr val="tx1"/>
                </a:solidFill>
              </a:rPr>
              <a:t> (2 * pi) / 24 </a:t>
            </a:r>
            <a:r>
              <a:rPr lang="es-ES" sz="1600" dirty="0" err="1">
                <a:solidFill>
                  <a:schemeClr val="tx1"/>
                </a:solidFill>
              </a:rPr>
              <a:t>hours</a:t>
            </a:r>
            <a:endParaRPr lang="es-ES" sz="1600" dirty="0">
              <a:solidFill>
                <a:schemeClr val="tx1"/>
              </a:solidFill>
            </a:endParaRP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 the initial reference angle and its derivative to the initialization script and run it</a:t>
            </a: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 a constant block with the time derivative of the reference angle and integrate it, including the initial reference angle</a:t>
            </a: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Subtract the current satellite angle from the reference to obtain the tracking error</a:t>
            </a: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 a PID controller block that takes the tracking error and that outputs the wheel torque</a:t>
            </a: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Flecha derecha 6">
            <a:extLst>
              <a:ext uri="{FF2B5EF4-FFF2-40B4-BE49-F238E27FC236}">
                <a16:creationId xmlns:a16="http://schemas.microsoft.com/office/drawing/2014/main" id="{905C83A3-097A-EFE1-C522-F17E2CE7527F}"/>
              </a:ext>
            </a:extLst>
          </p:cNvPr>
          <p:cNvSpPr/>
          <p:nvPr/>
        </p:nvSpPr>
        <p:spPr>
          <a:xfrm>
            <a:off x="3865862" y="4936274"/>
            <a:ext cx="398253" cy="16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6D37292-CBEC-57E8-656C-5BCAE7854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509" y="3767951"/>
            <a:ext cx="2575872" cy="239279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6E305FD-E3A2-54E5-A80A-D72B9CDF4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2506" y="3928950"/>
            <a:ext cx="6846992" cy="2014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228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D0CAB-49E6-D37C-CA6D-AE9BC4FA7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D357E98-92CD-815F-7BA9-3D59925444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16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B101877-6201-0743-8822-1D77E7B97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01" y="775663"/>
            <a:ext cx="7185091" cy="585905"/>
          </a:xfrm>
        </p:spPr>
        <p:txBody>
          <a:bodyPr/>
          <a:lstStyle/>
          <a:p>
            <a:r>
              <a:rPr lang="es-ES" dirty="0"/>
              <a:t>PID </a:t>
            </a:r>
            <a:r>
              <a:rPr lang="es-ES" dirty="0" err="1"/>
              <a:t>controller</a:t>
            </a:r>
            <a:r>
              <a:rPr lang="es-ES" dirty="0"/>
              <a:t> </a:t>
            </a:r>
            <a:r>
              <a:rPr lang="es-ES" dirty="0" err="1"/>
              <a:t>implementation</a:t>
            </a:r>
            <a:r>
              <a:rPr lang="es-ES" dirty="0"/>
              <a:t> II</a:t>
            </a:r>
          </a:p>
        </p:txBody>
      </p:sp>
      <p:sp>
        <p:nvSpPr>
          <p:cNvPr id="9" name="Marcador de texto 4">
            <a:extLst>
              <a:ext uri="{FF2B5EF4-FFF2-40B4-BE49-F238E27FC236}">
                <a16:creationId xmlns:a16="http://schemas.microsoft.com/office/drawing/2014/main" id="{74D33A08-ACCA-D72E-3514-E7EC48771BFD}"/>
              </a:ext>
            </a:extLst>
          </p:cNvPr>
          <p:cNvSpPr txBox="1">
            <a:spLocks/>
          </p:cNvSpPr>
          <p:nvPr/>
        </p:nvSpPr>
        <p:spPr>
          <a:xfrm>
            <a:off x="645016" y="1457776"/>
            <a:ext cx="10521344" cy="585905"/>
          </a:xfrm>
          <a:prstGeom prst="rect">
            <a:avLst/>
          </a:prstGeom>
        </p:spPr>
        <p:txBody>
          <a:bodyPr vert="horz" lIns="0" tIns="38100" rIns="76200" bIns="38100" rtlCol="0">
            <a:normAutofit fontScale="92500" lnSpcReduction="10000"/>
          </a:bodyPr>
          <a:lstStyle>
            <a:lvl1pPr marL="0" indent="0" algn="l" defTabSz="109728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rgbClr val="FF3228"/>
              </a:buClr>
              <a:buFont typeface="Wingdings" panose="05000000000000000000" pitchFamily="2" charset="2"/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 marL="541338" indent="-269875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676766"/>
              </a:buClr>
              <a:buFont typeface="Wingdings" panose="05000000000000000000" pitchFamily="2" charset="2"/>
              <a:buChar char="§"/>
              <a:defRPr sz="220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tx1"/>
                </a:solidFill>
              </a:rPr>
              <a:t>Log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tracking error and </a:t>
            </a:r>
            <a:r>
              <a:rPr lang="es-ES" sz="1400" dirty="0" err="1">
                <a:solidFill>
                  <a:schemeClr val="tx1"/>
                </a:solidFill>
              </a:rPr>
              <a:t>reference</a:t>
            </a:r>
            <a:r>
              <a:rPr lang="es-ES" sz="1400" dirty="0">
                <a:solidFill>
                  <a:schemeClr val="tx1"/>
                </a:solidFill>
              </a:rPr>
              <a:t> angle </a:t>
            </a:r>
            <a:r>
              <a:rPr lang="es-ES" sz="1400" dirty="0" err="1">
                <a:solidFill>
                  <a:schemeClr val="tx1"/>
                </a:solidFill>
              </a:rPr>
              <a:t>signals</a:t>
            </a:r>
            <a:r>
              <a:rPr lang="es-ES" sz="1400" dirty="0">
                <a:solidFill>
                  <a:schemeClr val="tx1"/>
                </a:solidFill>
              </a:rPr>
              <a:t> (</a:t>
            </a:r>
            <a:r>
              <a:rPr lang="es-ES" sz="1400" dirty="0" err="1">
                <a:solidFill>
                  <a:schemeClr val="tx1"/>
                </a:solidFill>
              </a:rPr>
              <a:t>convert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them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to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degrees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before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logging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for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easier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visualization</a:t>
            </a:r>
            <a:r>
              <a:rPr lang="es-ES" sz="1400" dirty="0">
                <a:solidFill>
                  <a:schemeClr val="tx1"/>
                </a:solidFill>
              </a:rPr>
              <a:t>)</a:t>
            </a: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tx1"/>
                </a:solidFill>
              </a:rPr>
              <a:t>Set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simulation</a:t>
            </a:r>
            <a:r>
              <a:rPr lang="es-ES" sz="1400" dirty="0">
                <a:solidFill>
                  <a:schemeClr val="tx1"/>
                </a:solidFill>
              </a:rPr>
              <a:t> time </a:t>
            </a:r>
            <a:r>
              <a:rPr lang="es-ES" sz="1400" dirty="0" err="1">
                <a:solidFill>
                  <a:schemeClr val="tx1"/>
                </a:solidFill>
              </a:rPr>
              <a:t>to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one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day</a:t>
            </a:r>
            <a:r>
              <a:rPr lang="es-ES" sz="1400" dirty="0">
                <a:solidFill>
                  <a:schemeClr val="tx1"/>
                </a:solidFill>
              </a:rPr>
              <a:t> (24 * 3600)</a:t>
            </a:r>
            <a:endParaRPr lang="en-US" sz="1400" dirty="0">
              <a:solidFill>
                <a:schemeClr val="tx1"/>
              </a:solidFill>
            </a:endParaRP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8C2FD67-1384-2D72-9279-431CDE849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3095" y="1877323"/>
            <a:ext cx="1905000" cy="1028700"/>
          </a:xfrm>
          <a:prstGeom prst="rect">
            <a:avLst/>
          </a:prstGeom>
        </p:spPr>
      </p:pic>
      <p:sp>
        <p:nvSpPr>
          <p:cNvPr id="8" name="Flecha derecha 7">
            <a:extLst>
              <a:ext uri="{FF2B5EF4-FFF2-40B4-BE49-F238E27FC236}">
                <a16:creationId xmlns:a16="http://schemas.microsoft.com/office/drawing/2014/main" id="{333BF991-4C4F-C391-9435-DAE832976E39}"/>
              </a:ext>
            </a:extLst>
          </p:cNvPr>
          <p:cNvSpPr/>
          <p:nvPr/>
        </p:nvSpPr>
        <p:spPr>
          <a:xfrm rot="1002802">
            <a:off x="4950070" y="1956590"/>
            <a:ext cx="592592" cy="2813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611F2CB-9F7E-ECE0-578B-5BCE73553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972533"/>
            <a:ext cx="7772400" cy="3497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773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A4338-54F8-E5C0-2AF6-A0163A10F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32D1552-ED85-DE40-00DC-30F54ED21F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17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CB18C04-2CE2-7CCC-6E83-A9C5705FB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01" y="775663"/>
            <a:ext cx="7185091" cy="585905"/>
          </a:xfrm>
        </p:spPr>
        <p:txBody>
          <a:bodyPr/>
          <a:lstStyle/>
          <a:p>
            <a:r>
              <a:rPr lang="es-ES" dirty="0"/>
              <a:t>PID </a:t>
            </a:r>
            <a:r>
              <a:rPr lang="es-ES" dirty="0" err="1"/>
              <a:t>controller</a:t>
            </a:r>
            <a:r>
              <a:rPr lang="es-ES" dirty="0"/>
              <a:t> </a:t>
            </a:r>
            <a:r>
              <a:rPr lang="es-ES" dirty="0" err="1"/>
              <a:t>tuning</a:t>
            </a:r>
            <a:endParaRPr lang="es-ES" dirty="0"/>
          </a:p>
        </p:txBody>
      </p:sp>
      <p:sp>
        <p:nvSpPr>
          <p:cNvPr id="9" name="Marcador de texto 4">
            <a:extLst>
              <a:ext uri="{FF2B5EF4-FFF2-40B4-BE49-F238E27FC236}">
                <a16:creationId xmlns:a16="http://schemas.microsoft.com/office/drawing/2014/main" id="{DCA7A538-480B-3601-7709-8EBAA3CF1625}"/>
              </a:ext>
            </a:extLst>
          </p:cNvPr>
          <p:cNvSpPr txBox="1">
            <a:spLocks/>
          </p:cNvSpPr>
          <p:nvPr/>
        </p:nvSpPr>
        <p:spPr>
          <a:xfrm>
            <a:off x="645016" y="1457775"/>
            <a:ext cx="10521344" cy="1897716"/>
          </a:xfrm>
          <a:prstGeom prst="rect">
            <a:avLst/>
          </a:prstGeom>
        </p:spPr>
        <p:txBody>
          <a:bodyPr vert="horz" lIns="0" tIns="38100" rIns="76200" bIns="38100" rtlCol="0">
            <a:normAutofit fontScale="85000" lnSpcReduction="20000"/>
          </a:bodyPr>
          <a:lstStyle>
            <a:lvl1pPr marL="0" indent="0" algn="l" defTabSz="109728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rgbClr val="FF3228"/>
              </a:buClr>
              <a:buFont typeface="Wingdings" panose="05000000000000000000" pitchFamily="2" charset="2"/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 marL="541338" indent="-269875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676766"/>
              </a:buClr>
              <a:buFont typeface="Wingdings" panose="05000000000000000000" pitchFamily="2" charset="2"/>
              <a:buChar char="§"/>
              <a:defRPr sz="220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ES" sz="1400" dirty="0" err="1">
                <a:solidFill>
                  <a:schemeClr val="tx1"/>
                </a:solidFill>
              </a:rPr>
              <a:t>Double-click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on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PID block,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gains</a:t>
            </a:r>
            <a:r>
              <a:rPr lang="es-ES" sz="1400" dirty="0">
                <a:solidFill>
                  <a:schemeClr val="tx1"/>
                </a:solidFill>
              </a:rPr>
              <a:t> can be </a:t>
            </a:r>
            <a:r>
              <a:rPr lang="es-ES" sz="1400" dirty="0" err="1">
                <a:solidFill>
                  <a:schemeClr val="tx1"/>
                </a:solidFill>
              </a:rPr>
              <a:t>tuned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directly</a:t>
            </a:r>
            <a:r>
              <a:rPr lang="es-ES" sz="1400" dirty="0">
                <a:solidFill>
                  <a:schemeClr val="tx1"/>
                </a:solidFill>
              </a:rPr>
              <a:t> in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i="1" dirty="0" err="1">
                <a:solidFill>
                  <a:schemeClr val="tx1"/>
                </a:solidFill>
              </a:rPr>
              <a:t>Controller</a:t>
            </a:r>
            <a:r>
              <a:rPr lang="es-ES" sz="1400" i="1" dirty="0">
                <a:solidFill>
                  <a:schemeClr val="tx1"/>
                </a:solidFill>
              </a:rPr>
              <a:t> </a:t>
            </a:r>
            <a:r>
              <a:rPr lang="es-ES" sz="1400" i="1" dirty="0" err="1">
                <a:solidFill>
                  <a:schemeClr val="tx1"/>
                </a:solidFill>
              </a:rPr>
              <a:t>parameters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fields</a:t>
            </a:r>
            <a:endParaRPr lang="es-ES" sz="1400" dirty="0">
              <a:solidFill>
                <a:schemeClr val="tx1"/>
              </a:solidFill>
            </a:endParaRP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ES" sz="1400" dirty="0" err="1">
                <a:solidFill>
                  <a:schemeClr val="tx1"/>
                </a:solidFill>
              </a:rPr>
              <a:t>We’ll</a:t>
            </a:r>
            <a:r>
              <a:rPr lang="es-ES" sz="1400" dirty="0">
                <a:solidFill>
                  <a:schemeClr val="tx1"/>
                </a:solidFill>
              </a:rPr>
              <a:t> use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automatic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tuner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provided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by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Simulink</a:t>
            </a:r>
            <a:r>
              <a:rPr lang="es-ES" sz="1400" dirty="0">
                <a:solidFill>
                  <a:schemeClr val="tx1"/>
                </a:solidFill>
              </a:rPr>
              <a:t>, </a:t>
            </a:r>
            <a:r>
              <a:rPr lang="es-ES" sz="1400" dirty="0" err="1">
                <a:solidFill>
                  <a:schemeClr val="tx1"/>
                </a:solidFill>
              </a:rPr>
              <a:t>press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on</a:t>
            </a:r>
            <a:r>
              <a:rPr lang="es-ES" sz="1400" dirty="0">
                <a:solidFill>
                  <a:schemeClr val="tx1"/>
                </a:solidFill>
              </a:rPr>
              <a:t> tune</a:t>
            </a: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PID </a:t>
            </a:r>
            <a:r>
              <a:rPr lang="es-ES" sz="1400" dirty="0" err="1">
                <a:solidFill>
                  <a:schemeClr val="tx1"/>
                </a:solidFill>
              </a:rPr>
              <a:t>tuner</a:t>
            </a:r>
            <a:r>
              <a:rPr lang="es-ES" sz="1400" dirty="0">
                <a:solidFill>
                  <a:schemeClr val="tx1"/>
                </a:solidFill>
              </a:rPr>
              <a:t> app opens in a </a:t>
            </a:r>
            <a:r>
              <a:rPr lang="es-ES" sz="1400" dirty="0" err="1">
                <a:solidFill>
                  <a:schemeClr val="tx1"/>
                </a:solidFill>
              </a:rPr>
              <a:t>few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seconds</a:t>
            </a:r>
            <a:r>
              <a:rPr lang="es-ES" sz="1400" dirty="0">
                <a:solidFill>
                  <a:schemeClr val="tx1"/>
                </a:solidFill>
              </a:rPr>
              <a:t>, </a:t>
            </a:r>
            <a:r>
              <a:rPr lang="es-ES" sz="1400" dirty="0" err="1">
                <a:solidFill>
                  <a:schemeClr val="tx1"/>
                </a:solidFill>
              </a:rPr>
              <a:t>there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controller</a:t>
            </a:r>
            <a:r>
              <a:rPr lang="es-ES" sz="1400" dirty="0">
                <a:solidFill>
                  <a:schemeClr val="tx1"/>
                </a:solidFill>
              </a:rPr>
              <a:t> response time and </a:t>
            </a:r>
            <a:r>
              <a:rPr lang="es-ES" sz="1400" dirty="0" err="1">
                <a:solidFill>
                  <a:schemeClr val="tx1"/>
                </a:solidFill>
              </a:rPr>
              <a:t>behavior</a:t>
            </a:r>
            <a:r>
              <a:rPr lang="es-ES" sz="1400" dirty="0">
                <a:solidFill>
                  <a:schemeClr val="tx1"/>
                </a:solidFill>
              </a:rPr>
              <a:t> can be </a:t>
            </a:r>
            <a:r>
              <a:rPr lang="es-ES" sz="1400" dirty="0" err="1">
                <a:solidFill>
                  <a:schemeClr val="tx1"/>
                </a:solidFill>
              </a:rPr>
              <a:t>graphically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adjusted</a:t>
            </a:r>
            <a:endParaRPr lang="es-ES" sz="1400" dirty="0">
              <a:solidFill>
                <a:schemeClr val="tx1"/>
              </a:solidFill>
            </a:endParaRP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ES" sz="1400" dirty="0" err="1">
                <a:solidFill>
                  <a:schemeClr val="tx1"/>
                </a:solidFill>
              </a:rPr>
              <a:t>Click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on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i="1" dirty="0" err="1">
                <a:solidFill>
                  <a:schemeClr val="tx1"/>
                </a:solidFill>
              </a:rPr>
              <a:t>Update</a:t>
            </a:r>
            <a:r>
              <a:rPr lang="es-ES" sz="1400" i="1" dirty="0">
                <a:solidFill>
                  <a:schemeClr val="tx1"/>
                </a:solidFill>
              </a:rPr>
              <a:t> block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to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save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settings</a:t>
            </a:r>
            <a:r>
              <a:rPr lang="es-ES" sz="1400" dirty="0">
                <a:solidFill>
                  <a:schemeClr val="tx1"/>
                </a:solidFill>
              </a:rPr>
              <a:t> and run a </a:t>
            </a:r>
            <a:r>
              <a:rPr lang="es-ES" sz="1400" dirty="0" err="1">
                <a:solidFill>
                  <a:schemeClr val="tx1"/>
                </a:solidFill>
              </a:rPr>
              <a:t>simulation</a:t>
            </a:r>
            <a:endParaRPr lang="es-ES" sz="1400" dirty="0">
              <a:solidFill>
                <a:schemeClr val="tx1"/>
              </a:solidFill>
            </a:endParaRP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tx1"/>
                </a:solidFill>
              </a:rPr>
              <a:t>Test </a:t>
            </a:r>
            <a:r>
              <a:rPr lang="es-ES" sz="1400" dirty="0" err="1">
                <a:solidFill>
                  <a:schemeClr val="tx1"/>
                </a:solidFill>
              </a:rPr>
              <a:t>different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settings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to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see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how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tracking error and control </a:t>
            </a:r>
            <a:r>
              <a:rPr lang="es-ES" sz="1400" dirty="0" err="1">
                <a:solidFill>
                  <a:schemeClr val="tx1"/>
                </a:solidFill>
              </a:rPr>
              <a:t>effort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change</a:t>
            </a:r>
            <a:r>
              <a:rPr lang="es-ES" sz="1400" dirty="0">
                <a:solidFill>
                  <a:schemeClr val="tx1"/>
                </a:solidFill>
              </a:rPr>
              <a:t> (</a:t>
            </a:r>
            <a:r>
              <a:rPr lang="es-ES" sz="1400" dirty="0" err="1">
                <a:solidFill>
                  <a:schemeClr val="tx1"/>
                </a:solidFill>
              </a:rPr>
              <a:t>Hint</a:t>
            </a:r>
            <a:r>
              <a:rPr lang="es-ES" sz="1400" dirty="0">
                <a:solidFill>
                  <a:schemeClr val="tx1"/>
                </a:solidFill>
              </a:rPr>
              <a:t>: </a:t>
            </a:r>
            <a:r>
              <a:rPr lang="es-ES" sz="1400" dirty="0" err="1">
                <a:solidFill>
                  <a:schemeClr val="tx1"/>
                </a:solidFill>
              </a:rPr>
              <a:t>Integrate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abs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of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wheel</a:t>
            </a:r>
            <a:r>
              <a:rPr lang="es-ES" sz="1400" dirty="0">
                <a:solidFill>
                  <a:schemeClr val="tx1"/>
                </a:solidFill>
              </a:rPr>
              <a:t> torque </a:t>
            </a:r>
            <a:r>
              <a:rPr lang="es-ES" sz="1400" dirty="0" err="1">
                <a:solidFill>
                  <a:schemeClr val="tx1"/>
                </a:solidFill>
              </a:rPr>
              <a:t>signal</a:t>
            </a:r>
            <a:r>
              <a:rPr lang="es-ES" sz="1400" dirty="0">
                <a:solidFill>
                  <a:schemeClr val="tx1"/>
                </a:solidFill>
              </a:rPr>
              <a:t> and log </a:t>
            </a:r>
            <a:r>
              <a:rPr lang="es-ES" sz="1400" dirty="0" err="1">
                <a:solidFill>
                  <a:schemeClr val="tx1"/>
                </a:solidFill>
              </a:rPr>
              <a:t>it</a:t>
            </a:r>
            <a:r>
              <a:rPr lang="es-ES" sz="1400" dirty="0">
                <a:solidFill>
                  <a:schemeClr val="tx1"/>
                </a:solidFill>
              </a:rPr>
              <a:t>, in </a:t>
            </a:r>
            <a:r>
              <a:rPr lang="es-ES" sz="1400" dirty="0" err="1">
                <a:solidFill>
                  <a:schemeClr val="tx1"/>
                </a:solidFill>
              </a:rPr>
              <a:t>order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to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visualize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total control </a:t>
            </a:r>
            <a:r>
              <a:rPr lang="es-ES" sz="1400" dirty="0" err="1">
                <a:solidFill>
                  <a:schemeClr val="tx1"/>
                </a:solidFill>
              </a:rPr>
              <a:t>effort</a:t>
            </a:r>
            <a:r>
              <a:rPr lang="es-ES" sz="1400" dirty="0">
                <a:solidFill>
                  <a:schemeClr val="tx1"/>
                </a:solidFill>
              </a:rPr>
              <a:t>)</a:t>
            </a: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s-ES" sz="1400" dirty="0" err="1">
                <a:solidFill>
                  <a:schemeClr val="tx1"/>
                </a:solidFill>
              </a:rPr>
              <a:t>Also</a:t>
            </a:r>
            <a:r>
              <a:rPr lang="es-ES" sz="1400" dirty="0">
                <a:solidFill>
                  <a:schemeClr val="tx1"/>
                </a:solidFill>
              </a:rPr>
              <a:t> test </a:t>
            </a:r>
            <a:r>
              <a:rPr lang="es-ES" sz="1400" dirty="0" err="1">
                <a:solidFill>
                  <a:schemeClr val="tx1"/>
                </a:solidFill>
              </a:rPr>
              <a:t>what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happens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when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changing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scaling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of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external</a:t>
            </a:r>
            <a:r>
              <a:rPr lang="es-ES" sz="1400" dirty="0">
                <a:solidFill>
                  <a:schemeClr val="tx1"/>
                </a:solidFill>
              </a:rPr>
              <a:t> torque </a:t>
            </a:r>
            <a:r>
              <a:rPr lang="es-ES" sz="1400" dirty="0" err="1">
                <a:solidFill>
                  <a:schemeClr val="tx1"/>
                </a:solidFill>
              </a:rPr>
              <a:t>perturbations</a:t>
            </a:r>
            <a:r>
              <a:rPr lang="es-ES" sz="1400" dirty="0">
                <a:solidFill>
                  <a:schemeClr val="tx1"/>
                </a:solidFill>
              </a:rPr>
              <a:t>, </a:t>
            </a:r>
            <a:r>
              <a:rPr lang="es-ES" sz="1400" dirty="0" err="1">
                <a:solidFill>
                  <a:schemeClr val="tx1"/>
                </a:solidFill>
              </a:rPr>
              <a:t>to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see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how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controller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is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able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to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compensate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for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them</a:t>
            </a:r>
            <a:r>
              <a:rPr lang="es-ES" sz="1400" dirty="0">
                <a:solidFill>
                  <a:schemeClr val="tx1"/>
                </a:solidFill>
              </a:rPr>
              <a:t>, and </a:t>
            </a:r>
            <a:r>
              <a:rPr lang="es-ES" sz="1400" dirty="0" err="1">
                <a:solidFill>
                  <a:schemeClr val="tx1"/>
                </a:solidFill>
              </a:rPr>
              <a:t>how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the</a:t>
            </a:r>
            <a:r>
              <a:rPr lang="es-ES" sz="1400" dirty="0">
                <a:solidFill>
                  <a:schemeClr val="tx1"/>
                </a:solidFill>
              </a:rPr>
              <a:t> control error and control </a:t>
            </a:r>
            <a:r>
              <a:rPr lang="es-ES" sz="1400" dirty="0" err="1">
                <a:solidFill>
                  <a:schemeClr val="tx1"/>
                </a:solidFill>
              </a:rPr>
              <a:t>effort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  <a:r>
              <a:rPr lang="es-ES" sz="1400" dirty="0" err="1">
                <a:solidFill>
                  <a:schemeClr val="tx1"/>
                </a:solidFill>
              </a:rPr>
              <a:t>change</a:t>
            </a:r>
            <a:endParaRPr lang="en-US" sz="1400" dirty="0">
              <a:solidFill>
                <a:schemeClr val="tx1"/>
              </a:solidFill>
            </a:endParaRPr>
          </a:p>
          <a:p>
            <a:pPr marL="358215" lvl="1" indent="-238115" algn="just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31CBEE3-05A9-4379-9C6F-E6C80F5E6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433" y="3502509"/>
            <a:ext cx="2806521" cy="275495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33A4DAA-C305-7510-83C0-327475683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793" y="3470667"/>
            <a:ext cx="4143841" cy="2885683"/>
          </a:xfrm>
          <a:prstGeom prst="rect">
            <a:avLst/>
          </a:prstGeom>
        </p:spPr>
      </p:pic>
      <p:sp>
        <p:nvSpPr>
          <p:cNvPr id="11" name="Flecha derecha 10">
            <a:extLst>
              <a:ext uri="{FF2B5EF4-FFF2-40B4-BE49-F238E27FC236}">
                <a16:creationId xmlns:a16="http://schemas.microsoft.com/office/drawing/2014/main" id="{AFBC98C3-6B27-BB08-68F1-FBB5D8A14583}"/>
              </a:ext>
            </a:extLst>
          </p:cNvPr>
          <p:cNvSpPr/>
          <p:nvPr/>
        </p:nvSpPr>
        <p:spPr>
          <a:xfrm>
            <a:off x="5706561" y="4718988"/>
            <a:ext cx="398253" cy="16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6368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D7075FA6-95B3-43B5-B750-B4A68BC0B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578" y="2781880"/>
            <a:ext cx="3686763" cy="647121"/>
          </a:xfrm>
        </p:spPr>
        <p:txBody>
          <a:bodyPr>
            <a:normAutofit fontScale="90000"/>
          </a:bodyPr>
          <a:lstStyle/>
          <a:p>
            <a:r>
              <a:rPr lang="es-ES" dirty="0" err="1"/>
              <a:t>Thank</a:t>
            </a:r>
            <a:r>
              <a:rPr lang="es-ES" dirty="0"/>
              <a:t> </a:t>
            </a:r>
            <a:r>
              <a:rPr lang="es-ES" dirty="0" err="1"/>
              <a:t>you</a:t>
            </a:r>
            <a:r>
              <a:rPr lang="es-ES" dirty="0"/>
              <a:t>!</a:t>
            </a:r>
            <a:br>
              <a:rPr lang="es-ES" dirty="0"/>
            </a:br>
            <a:r>
              <a:rPr lang="es-ES" dirty="0" err="1"/>
              <a:t>Any</a:t>
            </a:r>
            <a:r>
              <a:rPr lang="es-ES" dirty="0"/>
              <a:t> </a:t>
            </a:r>
            <a:r>
              <a:rPr lang="es-ES" dirty="0" err="1"/>
              <a:t>questions</a:t>
            </a:r>
            <a:r>
              <a:rPr lang="es-ES" dirty="0"/>
              <a:t>?</a:t>
            </a:r>
          </a:p>
        </p:txBody>
      </p:sp>
      <p:pic>
        <p:nvPicPr>
          <p:cNvPr id="4" name="Imagen 3" descr="Forma&#10;&#10;Descripción generada automáticamente con confianza baja">
            <a:extLst>
              <a:ext uri="{FF2B5EF4-FFF2-40B4-BE49-F238E27FC236}">
                <a16:creationId xmlns:a16="http://schemas.microsoft.com/office/drawing/2014/main" id="{B766F0B8-ED07-4249-9566-6520B736F3AC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9154" y="4337890"/>
            <a:ext cx="900028" cy="900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8449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25651</TotalTime>
  <Words>1168</Words>
  <Application>Microsoft Macintosh PowerPoint</Application>
  <PresentationFormat>Panorámica</PresentationFormat>
  <Paragraphs>122</Paragraphs>
  <Slides>18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Century Gothic</vt:lpstr>
      <vt:lpstr>Sunflower</vt:lpstr>
      <vt:lpstr>Wingdings</vt:lpstr>
      <vt:lpstr>Tema de Office</vt:lpstr>
      <vt:lpstr>Reaction Wheel simulation</vt:lpstr>
      <vt:lpstr>Contents</vt:lpstr>
      <vt:lpstr>Introduction</vt:lpstr>
      <vt:lpstr>1-DoF rotational dynamics</vt:lpstr>
      <vt:lpstr>1-DoF rotational dynamics II</vt:lpstr>
      <vt:lpstr>Dynamics block creation</vt:lpstr>
      <vt:lpstr>Dynamics block creation II</vt:lpstr>
      <vt:lpstr>Dynamics block creation III</vt:lpstr>
      <vt:lpstr>Dynamics block creation IV</vt:lpstr>
      <vt:lpstr>Main model creation I</vt:lpstr>
      <vt:lpstr>Main model creation II</vt:lpstr>
      <vt:lpstr>Main model creation III</vt:lpstr>
      <vt:lpstr>External disturbances</vt:lpstr>
      <vt:lpstr>PID control</vt:lpstr>
      <vt:lpstr>PID controller implementation I</vt:lpstr>
      <vt:lpstr>PID controller implementation II</vt:lpstr>
      <vt:lpstr>PID controller tuning</vt:lpstr>
      <vt:lpstr>Thank you!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Aerospace Technology</dc:title>
  <dc:creator>Antonio Hernández-Rodicio Mateos</dc:creator>
  <cp:lastModifiedBy>ANTONIO HERNANDEZ-RODICIO MATEOS</cp:lastModifiedBy>
  <cp:revision>55</cp:revision>
  <dcterms:created xsi:type="dcterms:W3CDTF">2023-09-20T20:33:34Z</dcterms:created>
  <dcterms:modified xsi:type="dcterms:W3CDTF">2025-11-26T13:06:23Z</dcterms:modified>
</cp:coreProperties>
</file>